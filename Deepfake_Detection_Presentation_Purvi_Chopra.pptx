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2" r:id="rId6"/>
    <p:sldId id="273"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138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Introduce the project as an image-based deepfake classifier. Explain that it predicts whether an uploaded image resembles the REAL or FAKE examples learned during training. It is a decision-support tool, not a guarantee of authenticity.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term deepfake is commonly used for AI-generated or manipulated media. This project focuses on still images, not video. Avoid suggesting that every AI-generated image is malicious.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problem precisely: given a still image, predict one of two trained labels. The model cannot independently establish the image's origin or prove that a person or event is real.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four objectives: classification, learned feature extraction, measurable evaluation, and an interface for testing. Mention that the model's scope is image-level binary classification.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622E9-38BA-A7FF-6222-67DE28852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5ECA1-1D25-53CE-02E9-B9CD516BDC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ED72FE0-C97F-49E1-2C05-69D5662AAAE0}"/>
              </a:ext>
            </a:extLst>
          </p:cNvPr>
          <p:cNvSpPr>
            <a:spLocks noGrp="1"/>
          </p:cNvSpPr>
          <p:nvPr>
            <p:ph type="body" sz="quarter" idx="3"/>
          </p:nvPr>
        </p:nvSpPr>
        <p:spPr/>
        <p:txBody>
          <a:bodyPr/>
          <a:lstStyle/>
          <a:p>
            <a:r>
              <a:t>Use this slide to demonstrate the actual Streamlit app if available. This is a mockup, not a screenshot. Explain that the app should load the trained model, preprocess an uploaded image consistently, and display the prediction. Avoid calling the displayed score a calibrated probability unless verified.</a:t>
            </a:r>
          </a:p>
        </p:txBody>
      </p:sp>
      <p:sp>
        <p:nvSpPr>
          <p:cNvPr id="4" name="Slide Number Placeholder 3">
            <a:extLst>
              <a:ext uri="{FF2B5EF4-FFF2-40B4-BE49-F238E27FC236}">
                <a16:creationId xmlns:a16="http://schemas.microsoft.com/office/drawing/2014/main" id="{7DB129FE-24EF-B5FC-3792-08B24C16297D}"/>
              </a:ext>
            </a:extLst>
          </p:cNvPr>
          <p:cNvSpPr>
            <a:spLocks noGrp="1"/>
          </p:cNvSpPr>
          <p:nvPr>
            <p:ph type="sldNum" sz="quarter" idx="5"/>
          </p:nvPr>
        </p:nvSpPr>
        <p:spPr/>
      </p:sp>
    </p:spTree>
    <p:extLst>
      <p:ext uri="{BB962C8B-B14F-4D97-AF65-F5344CB8AC3E}">
        <p14:creationId xmlns:p14="http://schemas.microsoft.com/office/powerpoint/2010/main" val="2351147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3D744-13F8-0899-F508-83BF14DA1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C519B-2532-FE88-82DD-610AAF3AD39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7C138F0-E79B-74A2-E2F6-EEBAC1149A51}"/>
              </a:ext>
            </a:extLst>
          </p:cNvPr>
          <p:cNvSpPr>
            <a:spLocks noGrp="1"/>
          </p:cNvSpPr>
          <p:nvPr>
            <p:ph type="body" sz="quarter" idx="3"/>
          </p:nvPr>
        </p:nvSpPr>
        <p:spPr/>
        <p:txBody>
          <a:bodyPr/>
          <a:lstStyle/>
          <a:p>
            <a:r>
              <a:t>Use this slide to demonstrate the actual Streamlit app if available. This is a mockup, not a screenshot. Explain that the app should load the trained model, preprocess an uploaded image consistently, and display the prediction. Avoid calling the displayed score a calibrated probability unless verified.</a:t>
            </a:r>
          </a:p>
        </p:txBody>
      </p:sp>
      <p:sp>
        <p:nvSpPr>
          <p:cNvPr id="4" name="Slide Number Placeholder 3">
            <a:extLst>
              <a:ext uri="{FF2B5EF4-FFF2-40B4-BE49-F238E27FC236}">
                <a16:creationId xmlns:a16="http://schemas.microsoft.com/office/drawing/2014/main" id="{378D8257-4615-E563-92C3-6D28F04744E0}"/>
              </a:ext>
            </a:extLst>
          </p:cNvPr>
          <p:cNvSpPr>
            <a:spLocks noGrp="1"/>
          </p:cNvSpPr>
          <p:nvPr>
            <p:ph type="sldNum" sz="quarter" idx="5"/>
          </p:nvPr>
        </p:nvSpPr>
        <p:spPr/>
      </p:sp>
    </p:spTree>
    <p:extLst>
      <p:ext uri="{BB962C8B-B14F-4D97-AF65-F5344CB8AC3E}">
        <p14:creationId xmlns:p14="http://schemas.microsoft.com/office/powerpoint/2010/main" val="1355328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Avoid claiming that this model outperforms every existing method. The comparison is conceptual: the project makes the classification process automated and repeatable.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loader has previously reported 12,902 images, with 10,322 training and 2,580 validation examples. Because dataset versions may change, verify the current run before treating this as final. Mention model-specific preprocessing only as implemented in the final code.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difference between training and inference. During training, labelled examples guide weight updates. At inference, the weights are fixed and the network processes a new image.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EfficientNetB0 is a CNN architecture designed for a strong accuracy-efficiency balance. Transfer learning means reusing weights learned on another dataset. Only describe a pretrained setup if the final code actually loads pretrained weights.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diagram describes the expected high-level pipeline, not every layer. Verify whether the model uses sigmoid or softmax, and check class ordering in the saved model and application code before the viva.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training loop in sequence. Avoid reading every hyperparameter unless asked. The exact optimizer and settings should be read from the final training script, because configurations changed during experimentation.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 metrics with the FAKE class explicitly. Precision tells us how trustworthy FAKE predictions are; recall tells us how many actual fake examples were caught. Which metric matters most depends on the use case.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figures reflect previously reported project runs: 91.2% validation accuracy in a fine-tuned run and 89.5% on a separate 1,000-image test run. The reported test confusion matrix is [[417, 83], [22, 478]] with FAKE first and REAL second. Confirm the exact model checkpoint and class order before final submission.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Mention practical constraints without presenting them as excuses. Data leakage, duplicate images across splits, and dataset-specific artifacts can inflate metrics. Any augmentation or threshold change must be re-evaluated.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demonstrate the actual Streamlit app if available. This is a mockup, not a screenshot. Explain that the app should load the trained model, preprocess an uploaded image consistently, and display the prediction. Avoid calling the displayed score a calibrated probability unless verified.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Clearly separate future work from implemented functionality. Video detection requires additional temporal modelling and evaluation; it is not achieved merely by classifying one frame.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summarizing the project and its limitations. References should be finalized with the exact dataset source and documentation versions used. Invite questions about model architecture, training, and evaluation.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34F"/>
        </a:solidFill>
        <a:effectLst/>
      </p:bgPr>
    </p:bg>
    <p:spTree>
      <p:nvGrpSpPr>
        <p:cNvPr id="1" name=""/>
        <p:cNvGrpSpPr/>
        <p:nvPr/>
      </p:nvGrpSpPr>
      <p:grpSpPr>
        <a:xfrm>
          <a:off x="0" y="0"/>
          <a:ext cx="0" cy="0"/>
          <a:chOff x="0" y="0"/>
          <a:chExt cx="0" cy="0"/>
        </a:xfrm>
      </p:grpSpPr>
      <p:sp>
        <p:nvSpPr>
          <p:cNvPr id="2" name="Oval 1"/>
          <p:cNvSpPr/>
          <p:nvPr/>
        </p:nvSpPr>
        <p:spPr>
          <a:xfrm>
            <a:off x="8778240" y="502920"/>
            <a:ext cx="2194560" cy="2194560"/>
          </a:xfrm>
          <a:prstGeom prst="ellipse">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92640" y="1828800"/>
            <a:ext cx="1645920" cy="1645920"/>
          </a:xfrm>
          <a:prstGeom prst="ellipse">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138160" y="3108960"/>
            <a:ext cx="2011680" cy="2011680"/>
          </a:xfrm>
          <a:prstGeom prst="ellipse">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058400" y="3931920"/>
            <a:ext cx="1325880" cy="1325880"/>
          </a:xfrm>
          <a:prstGeom prst="ellipse">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685800"/>
            <a:ext cx="2011680" cy="384048"/>
          </a:xfrm>
          <a:prstGeom prst="round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MACHINE LEARNING PROJECT</a:t>
            </a:r>
          </a:p>
        </p:txBody>
      </p:sp>
      <p:sp>
        <p:nvSpPr>
          <p:cNvPr id="7" name="TextBox 6"/>
          <p:cNvSpPr txBox="1"/>
          <p:nvPr/>
        </p:nvSpPr>
        <p:spPr>
          <a:xfrm>
            <a:off x="685800" y="1417320"/>
            <a:ext cx="7863840" cy="1371600"/>
          </a:xfrm>
          <a:prstGeom prst="rect">
            <a:avLst/>
          </a:prstGeom>
          <a:noFill/>
        </p:spPr>
        <p:txBody>
          <a:bodyPr wrap="square" lIns="54864" tIns="54864" rIns="54864" bIns="54864" anchor="t">
            <a:spAutoFit/>
          </a:bodyPr>
          <a:lstStyle/>
          <a:p>
            <a:r>
              <a:rPr sz="3400" b="1">
                <a:solidFill>
                  <a:srgbClr val="FFFFFF"/>
                </a:solidFill>
                <a:latin typeface="Aptos"/>
              </a:rPr>
              <a:t>Deepfake Detection
Using Deep Learning</a:t>
            </a:r>
          </a:p>
        </p:txBody>
      </p:sp>
      <p:sp>
        <p:nvSpPr>
          <p:cNvPr id="8" name="TextBox 7"/>
          <p:cNvSpPr txBox="1"/>
          <p:nvPr/>
        </p:nvSpPr>
        <p:spPr>
          <a:xfrm>
            <a:off x="713232" y="2971800"/>
            <a:ext cx="7223760" cy="640080"/>
          </a:xfrm>
          <a:prstGeom prst="rect">
            <a:avLst/>
          </a:prstGeom>
          <a:noFill/>
        </p:spPr>
        <p:txBody>
          <a:bodyPr wrap="square" lIns="54864" tIns="54864" rIns="54864" bIns="54864" anchor="t">
            <a:spAutoFit/>
          </a:bodyPr>
          <a:lstStyle/>
          <a:p>
            <a:r>
              <a:rPr sz="2100" b="1">
                <a:solidFill>
                  <a:srgbClr val="BECFFF"/>
                </a:solidFill>
                <a:latin typeface="Aptos"/>
              </a:rPr>
              <a:t>Image classification with EfficientNetB0</a:t>
            </a:r>
          </a:p>
        </p:txBody>
      </p:sp>
      <p:sp>
        <p:nvSpPr>
          <p:cNvPr id="9" name="TextBox 8"/>
          <p:cNvSpPr txBox="1"/>
          <p:nvPr/>
        </p:nvSpPr>
        <p:spPr>
          <a:xfrm>
            <a:off x="731520" y="4069080"/>
            <a:ext cx="6217920" cy="347472"/>
          </a:xfrm>
          <a:prstGeom prst="rect">
            <a:avLst/>
          </a:prstGeom>
          <a:noFill/>
        </p:spPr>
        <p:txBody>
          <a:bodyPr wrap="square" lIns="54864" tIns="54864" rIns="54864" bIns="54864" anchor="t">
            <a:spAutoFit/>
          </a:bodyPr>
          <a:lstStyle/>
          <a:p>
            <a:r>
              <a:rPr sz="1400" b="0" dirty="0">
                <a:solidFill>
                  <a:srgbClr val="BEC7E0"/>
                </a:solidFill>
                <a:latin typeface="Aptos"/>
              </a:rPr>
              <a:t>Presented by</a:t>
            </a:r>
          </a:p>
        </p:txBody>
      </p:sp>
      <p:sp>
        <p:nvSpPr>
          <p:cNvPr id="10" name="TextBox 9"/>
          <p:cNvSpPr txBox="1"/>
          <p:nvPr/>
        </p:nvSpPr>
        <p:spPr>
          <a:xfrm>
            <a:off x="731520" y="4416552"/>
            <a:ext cx="6217920" cy="457200"/>
          </a:xfrm>
          <a:prstGeom prst="rect">
            <a:avLst/>
          </a:prstGeom>
          <a:noFill/>
        </p:spPr>
        <p:txBody>
          <a:bodyPr wrap="square" lIns="54864" tIns="54864" rIns="54864" bIns="54864" anchor="t">
            <a:spAutoFit/>
          </a:bodyPr>
          <a:lstStyle/>
          <a:p>
            <a:r>
              <a:rPr sz="2200" b="1">
                <a:solidFill>
                  <a:srgbClr val="FFFFFF"/>
                </a:solidFill>
                <a:latin typeface="Aptos"/>
              </a:rPr>
              <a:t>Purvi Chopra</a:t>
            </a:r>
          </a:p>
        </p:txBody>
      </p:sp>
      <p:sp>
        <p:nvSpPr>
          <p:cNvPr id="11" name="TextBox 10"/>
          <p:cNvSpPr txBox="1"/>
          <p:nvPr/>
        </p:nvSpPr>
        <p:spPr>
          <a:xfrm>
            <a:off x="731520" y="5074920"/>
            <a:ext cx="6583680" cy="682174"/>
          </a:xfrm>
          <a:prstGeom prst="rect">
            <a:avLst/>
          </a:prstGeom>
          <a:noFill/>
        </p:spPr>
        <p:txBody>
          <a:bodyPr wrap="square" lIns="54864" tIns="54864" rIns="54864" bIns="54864" anchor="t">
            <a:spAutoFit/>
          </a:bodyPr>
          <a:lstStyle/>
          <a:p>
            <a:pPr>
              <a:lnSpc>
                <a:spcPct val="150000"/>
              </a:lnSpc>
            </a:pPr>
            <a:r>
              <a:rPr sz="1300" b="0" dirty="0" err="1">
                <a:solidFill>
                  <a:srgbClr val="D2D9ED"/>
                </a:solidFill>
                <a:latin typeface="Aptos"/>
              </a:rPr>
              <a:t>B.Tech</a:t>
            </a:r>
            <a:r>
              <a:rPr sz="1300" b="0" dirty="0">
                <a:solidFill>
                  <a:srgbClr val="D2D9ED"/>
                </a:solidFill>
                <a:latin typeface="Aptos"/>
              </a:rPr>
              <a:t> CSE — Artificial Intelligence &amp; Data Science
CT University  |  Subject: Machine Learning</a:t>
            </a:r>
            <a:endParaRPr lang="en-IN" sz="1300" b="0" dirty="0">
              <a:solidFill>
                <a:srgbClr val="D2D9ED"/>
              </a:solidFill>
              <a:latin typeface="Aptos"/>
            </a:endParaRPr>
          </a:p>
        </p:txBody>
      </p:sp>
      <p:sp>
        <p:nvSpPr>
          <p:cNvPr id="12" name="TextBox 11"/>
          <p:cNvSpPr txBox="1"/>
          <p:nvPr/>
        </p:nvSpPr>
        <p:spPr>
          <a:xfrm>
            <a:off x="731520" y="6217920"/>
            <a:ext cx="5943600" cy="264688"/>
          </a:xfrm>
          <a:prstGeom prst="rect">
            <a:avLst/>
          </a:prstGeom>
          <a:noFill/>
        </p:spPr>
        <p:txBody>
          <a:bodyPr wrap="square" lIns="54864" tIns="54864" rIns="54864" bIns="54864" anchor="t">
            <a:spAutoFit/>
          </a:bodyPr>
          <a:lstStyle/>
          <a:p>
            <a:r>
              <a:rPr sz="1000" b="0" dirty="0">
                <a:solidFill>
                  <a:srgbClr val="A5B6DF"/>
                </a:solidFill>
                <a:latin typeface="Aptos"/>
              </a:rPr>
              <a:t>REAL vs FAKE  • Deep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What are deepfakes?</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AI can create or alter visual content so that it appears authentic.</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02</a:t>
            </a:r>
          </a:p>
        </p:txBody>
      </p:sp>
      <p:sp>
        <p:nvSpPr>
          <p:cNvPr id="6" name="Rounded Rectangle 5"/>
          <p:cNvSpPr/>
          <p:nvPr/>
        </p:nvSpPr>
        <p:spPr>
          <a:xfrm>
            <a:off x="594360" y="1508760"/>
            <a:ext cx="3520440" cy="1874519"/>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618488"/>
            <a:ext cx="64008" cy="1655063"/>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45919"/>
            <a:ext cx="3200400" cy="329184"/>
          </a:xfrm>
          <a:prstGeom prst="rect">
            <a:avLst/>
          </a:prstGeom>
          <a:noFill/>
        </p:spPr>
        <p:txBody>
          <a:bodyPr wrap="square" lIns="54864" tIns="54864" rIns="54864" bIns="54864" anchor="t">
            <a:spAutoFit/>
          </a:bodyPr>
          <a:lstStyle/>
          <a:p>
            <a:r>
              <a:rPr sz="1600" b="1">
                <a:solidFill>
                  <a:srgbClr val="17234F"/>
                </a:solidFill>
                <a:latin typeface="Aptos"/>
              </a:rPr>
              <a:t>AI-generated images</a:t>
            </a:r>
          </a:p>
        </p:txBody>
      </p:sp>
      <p:sp>
        <p:nvSpPr>
          <p:cNvPr id="9" name="TextBox 8"/>
          <p:cNvSpPr txBox="1"/>
          <p:nvPr/>
        </p:nvSpPr>
        <p:spPr>
          <a:xfrm>
            <a:off x="777240" y="2029967"/>
            <a:ext cx="3200400" cy="1252727"/>
          </a:xfrm>
          <a:prstGeom prst="rect">
            <a:avLst/>
          </a:prstGeom>
          <a:noFill/>
        </p:spPr>
        <p:txBody>
          <a:bodyPr wrap="square" lIns="54864" tIns="54864" rIns="54864" bIns="54864" anchor="t">
            <a:spAutoFit/>
          </a:bodyPr>
          <a:lstStyle/>
          <a:p>
            <a:r>
              <a:rPr sz="1500" b="0">
                <a:solidFill>
                  <a:srgbClr val="232A3A"/>
                </a:solidFill>
                <a:latin typeface="Aptos"/>
              </a:rPr>
              <a:t>Images created largely by generative models rather than captured directly by a camera.</a:t>
            </a:r>
          </a:p>
        </p:txBody>
      </p:sp>
      <p:sp>
        <p:nvSpPr>
          <p:cNvPr id="10" name="Rounded Rectangle 9"/>
          <p:cNvSpPr/>
          <p:nvPr/>
        </p:nvSpPr>
        <p:spPr>
          <a:xfrm>
            <a:off x="4343400" y="1508760"/>
            <a:ext cx="3520440" cy="1874519"/>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618488"/>
            <a:ext cx="64008" cy="1655063"/>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80" y="1645919"/>
            <a:ext cx="3200400" cy="329184"/>
          </a:xfrm>
          <a:prstGeom prst="rect">
            <a:avLst/>
          </a:prstGeom>
          <a:noFill/>
        </p:spPr>
        <p:txBody>
          <a:bodyPr wrap="square" lIns="54864" tIns="54864" rIns="54864" bIns="54864" anchor="t">
            <a:spAutoFit/>
          </a:bodyPr>
          <a:lstStyle/>
          <a:p>
            <a:r>
              <a:rPr sz="1600" b="1">
                <a:solidFill>
                  <a:srgbClr val="17234F"/>
                </a:solidFill>
                <a:latin typeface="Aptos"/>
              </a:rPr>
              <a:t>Manipulated images</a:t>
            </a:r>
          </a:p>
        </p:txBody>
      </p:sp>
      <p:sp>
        <p:nvSpPr>
          <p:cNvPr id="13" name="TextBox 12"/>
          <p:cNvSpPr txBox="1"/>
          <p:nvPr/>
        </p:nvSpPr>
        <p:spPr>
          <a:xfrm>
            <a:off x="4526280" y="2029967"/>
            <a:ext cx="3200400" cy="1252727"/>
          </a:xfrm>
          <a:prstGeom prst="rect">
            <a:avLst/>
          </a:prstGeom>
          <a:noFill/>
        </p:spPr>
        <p:txBody>
          <a:bodyPr wrap="square" lIns="54864" tIns="54864" rIns="54864" bIns="54864" anchor="t">
            <a:spAutoFit/>
          </a:bodyPr>
          <a:lstStyle/>
          <a:p>
            <a:r>
              <a:rPr sz="1500" b="0">
                <a:solidFill>
                  <a:srgbClr val="232A3A"/>
                </a:solidFill>
                <a:latin typeface="Aptos"/>
              </a:rPr>
              <a:t>Existing images altered by face swapping, editing, compositing, or other techniques.</a:t>
            </a:r>
          </a:p>
        </p:txBody>
      </p:sp>
      <p:sp>
        <p:nvSpPr>
          <p:cNvPr id="14" name="Rounded Rectangle 13"/>
          <p:cNvSpPr/>
          <p:nvPr/>
        </p:nvSpPr>
        <p:spPr>
          <a:xfrm>
            <a:off x="8092440" y="1508760"/>
            <a:ext cx="3520440" cy="1874519"/>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618488"/>
            <a:ext cx="64008" cy="1655063"/>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19" y="1645919"/>
            <a:ext cx="3200400" cy="329184"/>
          </a:xfrm>
          <a:prstGeom prst="rect">
            <a:avLst/>
          </a:prstGeom>
          <a:noFill/>
        </p:spPr>
        <p:txBody>
          <a:bodyPr wrap="square" lIns="54864" tIns="54864" rIns="54864" bIns="54864" anchor="t">
            <a:spAutoFit/>
          </a:bodyPr>
          <a:lstStyle/>
          <a:p>
            <a:r>
              <a:rPr sz="1600" b="1">
                <a:solidFill>
                  <a:srgbClr val="17234F"/>
                </a:solidFill>
                <a:latin typeface="Aptos"/>
              </a:rPr>
              <a:t>Why it matters</a:t>
            </a:r>
          </a:p>
        </p:txBody>
      </p:sp>
      <p:sp>
        <p:nvSpPr>
          <p:cNvPr id="17" name="TextBox 16"/>
          <p:cNvSpPr txBox="1"/>
          <p:nvPr/>
        </p:nvSpPr>
        <p:spPr>
          <a:xfrm>
            <a:off x="8275319" y="2029967"/>
            <a:ext cx="3200400" cy="1252727"/>
          </a:xfrm>
          <a:prstGeom prst="rect">
            <a:avLst/>
          </a:prstGeom>
          <a:noFill/>
        </p:spPr>
        <p:txBody>
          <a:bodyPr wrap="square" lIns="54864" tIns="54864" rIns="54864" bIns="54864" anchor="t">
            <a:spAutoFit/>
          </a:bodyPr>
          <a:lstStyle/>
          <a:p>
            <a:r>
              <a:rPr sz="1500" b="0">
                <a:solidFill>
                  <a:srgbClr val="232A3A"/>
                </a:solidFill>
                <a:latin typeface="Aptos"/>
              </a:rPr>
              <a:t>Can enable misinformation, impersonation, fraud, and misuse of someone's identity.</a:t>
            </a:r>
          </a:p>
        </p:txBody>
      </p:sp>
      <p:sp>
        <p:nvSpPr>
          <p:cNvPr id="18" name="TextBox 17"/>
          <p:cNvSpPr txBox="1"/>
          <p:nvPr/>
        </p:nvSpPr>
        <p:spPr>
          <a:xfrm>
            <a:off x="822960" y="3794760"/>
            <a:ext cx="4754880" cy="320040"/>
          </a:xfrm>
          <a:prstGeom prst="rect">
            <a:avLst/>
          </a:prstGeom>
          <a:noFill/>
        </p:spPr>
        <p:txBody>
          <a:bodyPr wrap="square" lIns="54864" tIns="54864" rIns="54864" bIns="54864" anchor="t">
            <a:spAutoFit/>
          </a:bodyPr>
          <a:lstStyle/>
          <a:p>
            <a:pPr algn="ctr"/>
            <a:r>
              <a:rPr sz="1300" b="1">
                <a:solidFill>
                  <a:srgbClr val="239B70"/>
                </a:solidFill>
                <a:latin typeface="Aptos"/>
              </a:rPr>
              <a:t>AUTHENTIC-LOOKING IMAGE</a:t>
            </a:r>
          </a:p>
        </p:txBody>
      </p:sp>
      <p:sp>
        <p:nvSpPr>
          <p:cNvPr id="19" name="TextBox 18"/>
          <p:cNvSpPr txBox="1"/>
          <p:nvPr/>
        </p:nvSpPr>
        <p:spPr>
          <a:xfrm>
            <a:off x="6629400" y="3794760"/>
            <a:ext cx="4754880" cy="320040"/>
          </a:xfrm>
          <a:prstGeom prst="rect">
            <a:avLst/>
          </a:prstGeom>
          <a:noFill/>
        </p:spPr>
        <p:txBody>
          <a:bodyPr wrap="square" lIns="54864" tIns="54864" rIns="54864" bIns="54864" anchor="t">
            <a:spAutoFit/>
          </a:bodyPr>
          <a:lstStyle/>
          <a:p>
            <a:pPr algn="ctr"/>
            <a:r>
              <a:rPr sz="1300" b="1">
                <a:solidFill>
                  <a:srgbClr val="D64B5B"/>
                </a:solidFill>
                <a:latin typeface="Aptos"/>
              </a:rPr>
              <a:t>SYNTHETIC / MANIPULATED IMAGE</a:t>
            </a:r>
          </a:p>
        </p:txBody>
      </p:sp>
      <p:sp>
        <p:nvSpPr>
          <p:cNvPr id="20" name="Rounded Rectangle 19"/>
          <p:cNvSpPr/>
          <p:nvPr/>
        </p:nvSpPr>
        <p:spPr>
          <a:xfrm>
            <a:off x="1371600" y="4160519"/>
            <a:ext cx="3566160" cy="2350009"/>
          </a:xfrm>
          <a:prstGeom prst="roundRect">
            <a:avLst/>
          </a:prstGeom>
          <a:solidFill>
            <a:srgbClr val="E6EEFF"/>
          </a:solidFill>
          <a:ln>
            <a:solidFill>
              <a:srgbClr val="D5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43891" y="6112459"/>
            <a:ext cx="3200400" cy="182880"/>
          </a:xfrm>
          <a:prstGeom prst="rect">
            <a:avLst/>
          </a:prstGeom>
          <a:noFill/>
        </p:spPr>
        <p:txBody>
          <a:bodyPr wrap="square" lIns="54864" tIns="54864" rIns="54864" bIns="54864" anchor="t">
            <a:spAutoFit/>
          </a:bodyPr>
          <a:lstStyle/>
          <a:p>
            <a:pPr algn="ctr"/>
            <a:r>
              <a:rPr sz="1000" b="0" dirty="0">
                <a:solidFill>
                  <a:srgbClr val="5D687D"/>
                </a:solidFill>
                <a:latin typeface="Aptos"/>
              </a:rPr>
              <a:t>Captured
image</a:t>
            </a:r>
          </a:p>
        </p:txBody>
      </p:sp>
      <p:sp>
        <p:nvSpPr>
          <p:cNvPr id="25" name="Rounded Rectangle 24"/>
          <p:cNvSpPr/>
          <p:nvPr/>
        </p:nvSpPr>
        <p:spPr>
          <a:xfrm>
            <a:off x="7178040" y="4160520"/>
            <a:ext cx="3566160" cy="2350008"/>
          </a:xfrm>
          <a:prstGeom prst="roundRect">
            <a:avLst/>
          </a:prstGeom>
          <a:solidFill>
            <a:srgbClr val="F1EAFF"/>
          </a:solidFill>
          <a:ln>
            <a:solidFill>
              <a:srgbClr val="D5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60919" y="6057935"/>
            <a:ext cx="3200400" cy="182880"/>
          </a:xfrm>
          <a:prstGeom prst="rect">
            <a:avLst/>
          </a:prstGeom>
          <a:noFill/>
        </p:spPr>
        <p:txBody>
          <a:bodyPr wrap="square" lIns="54864" tIns="54864" rIns="54864" bIns="54864" anchor="t">
            <a:spAutoFit/>
          </a:bodyPr>
          <a:lstStyle/>
          <a:p>
            <a:pPr algn="ctr"/>
            <a:r>
              <a:rPr sz="1000" b="0">
                <a:solidFill>
                  <a:srgbClr val="5D687D"/>
                </a:solidFill>
                <a:latin typeface="Aptos"/>
              </a:rPr>
              <a:t>Generated or
edited image</a:t>
            </a:r>
          </a:p>
        </p:txBody>
      </p:sp>
      <p:pic>
        <p:nvPicPr>
          <p:cNvPr id="32" name="Picture 31">
            <a:extLst>
              <a:ext uri="{FF2B5EF4-FFF2-40B4-BE49-F238E27FC236}">
                <a16:creationId xmlns:a16="http://schemas.microsoft.com/office/drawing/2014/main" id="{81E8CF92-0FF9-3FB0-04E6-6125D2614E71}"/>
              </a:ext>
            </a:extLst>
          </p:cNvPr>
          <p:cNvPicPr>
            <a:picLocks noChangeAspect="1"/>
          </p:cNvPicPr>
          <p:nvPr/>
        </p:nvPicPr>
        <p:blipFill>
          <a:blip r:embed="rId3"/>
          <a:stretch>
            <a:fillRect/>
          </a:stretch>
        </p:blipFill>
        <p:spPr>
          <a:xfrm>
            <a:off x="2310542" y="4315968"/>
            <a:ext cx="1667097" cy="1741967"/>
          </a:xfrm>
          <a:prstGeom prst="rect">
            <a:avLst/>
          </a:prstGeom>
        </p:spPr>
      </p:pic>
      <p:pic>
        <p:nvPicPr>
          <p:cNvPr id="34" name="Picture 33">
            <a:extLst>
              <a:ext uri="{FF2B5EF4-FFF2-40B4-BE49-F238E27FC236}">
                <a16:creationId xmlns:a16="http://schemas.microsoft.com/office/drawing/2014/main" id="{153F2415-C3A8-7430-56FB-CDF73A78A959}"/>
              </a:ext>
            </a:extLst>
          </p:cNvPr>
          <p:cNvPicPr>
            <a:picLocks noChangeAspect="1"/>
          </p:cNvPicPr>
          <p:nvPr/>
        </p:nvPicPr>
        <p:blipFill>
          <a:blip r:embed="rId4"/>
          <a:stretch>
            <a:fillRect/>
          </a:stretch>
        </p:blipFill>
        <p:spPr>
          <a:xfrm>
            <a:off x="8156448" y="4315968"/>
            <a:ext cx="1634925" cy="17191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Problem statement</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Visual realism makes manual verification difficult.</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03</a:t>
            </a:r>
          </a:p>
        </p:txBody>
      </p:sp>
      <p:sp>
        <p:nvSpPr>
          <p:cNvPr id="6" name="Rounded Rectangle 5"/>
          <p:cNvSpPr/>
          <p:nvPr/>
        </p:nvSpPr>
        <p:spPr>
          <a:xfrm>
            <a:off x="640080" y="1554480"/>
            <a:ext cx="3429000" cy="20574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64207"/>
            <a:ext cx="64008" cy="1837943"/>
          </a:xfrm>
          <a:prstGeom prst="rect">
            <a:avLst/>
          </a:prstGeom>
          <a:solidFill>
            <a:srgbClr val="D64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691639"/>
            <a:ext cx="3108960" cy="329184"/>
          </a:xfrm>
          <a:prstGeom prst="rect">
            <a:avLst/>
          </a:prstGeom>
          <a:noFill/>
        </p:spPr>
        <p:txBody>
          <a:bodyPr wrap="square" lIns="54864" tIns="54864" rIns="54864" bIns="54864" anchor="t">
            <a:spAutoFit/>
          </a:bodyPr>
          <a:lstStyle/>
          <a:p>
            <a:r>
              <a:rPr sz="1600" b="1">
                <a:solidFill>
                  <a:srgbClr val="17234F"/>
                </a:solidFill>
                <a:latin typeface="Aptos"/>
              </a:rPr>
              <a:t>The challenge</a:t>
            </a:r>
          </a:p>
        </p:txBody>
      </p:sp>
      <p:sp>
        <p:nvSpPr>
          <p:cNvPr id="9" name="TextBox 8"/>
          <p:cNvSpPr txBox="1"/>
          <p:nvPr/>
        </p:nvSpPr>
        <p:spPr>
          <a:xfrm>
            <a:off x="822959" y="2075688"/>
            <a:ext cx="3108960" cy="1435607"/>
          </a:xfrm>
          <a:prstGeom prst="rect">
            <a:avLst/>
          </a:prstGeom>
          <a:noFill/>
        </p:spPr>
        <p:txBody>
          <a:bodyPr wrap="square" lIns="54864" tIns="54864" rIns="54864" bIns="54864" anchor="t">
            <a:spAutoFit/>
          </a:bodyPr>
          <a:lstStyle/>
          <a:p>
            <a:r>
              <a:rPr sz="1500" b="0">
                <a:solidFill>
                  <a:srgbClr val="232A3A"/>
                </a:solidFill>
                <a:latin typeface="Aptos"/>
              </a:rPr>
              <a:t>Synthetic images can look convincing. Visual clues may be subtle, inconsistent, or absent.</a:t>
            </a:r>
          </a:p>
        </p:txBody>
      </p:sp>
      <p:sp>
        <p:nvSpPr>
          <p:cNvPr id="10" name="Rounded Rectangle 9"/>
          <p:cNvSpPr/>
          <p:nvPr/>
        </p:nvSpPr>
        <p:spPr>
          <a:xfrm>
            <a:off x="4389120" y="1554480"/>
            <a:ext cx="3429000" cy="20574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664207"/>
            <a:ext cx="64008" cy="1837943"/>
          </a:xfrm>
          <a:prstGeom prst="rect">
            <a:avLst/>
          </a:prstGeom>
          <a:solidFill>
            <a:srgbClr val="F0A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691639"/>
            <a:ext cx="3108960" cy="329184"/>
          </a:xfrm>
          <a:prstGeom prst="rect">
            <a:avLst/>
          </a:prstGeom>
          <a:noFill/>
        </p:spPr>
        <p:txBody>
          <a:bodyPr wrap="square" lIns="54864" tIns="54864" rIns="54864" bIns="54864" anchor="t">
            <a:spAutoFit/>
          </a:bodyPr>
          <a:lstStyle/>
          <a:p>
            <a:r>
              <a:rPr sz="1600" b="1">
                <a:solidFill>
                  <a:srgbClr val="17234F"/>
                </a:solidFill>
                <a:latin typeface="Aptos"/>
              </a:rPr>
              <a:t>Why manual checks fall short</a:t>
            </a:r>
          </a:p>
        </p:txBody>
      </p:sp>
      <p:sp>
        <p:nvSpPr>
          <p:cNvPr id="13" name="TextBox 12"/>
          <p:cNvSpPr txBox="1"/>
          <p:nvPr/>
        </p:nvSpPr>
        <p:spPr>
          <a:xfrm>
            <a:off x="4572000" y="2075688"/>
            <a:ext cx="3108960" cy="1435607"/>
          </a:xfrm>
          <a:prstGeom prst="rect">
            <a:avLst/>
          </a:prstGeom>
          <a:noFill/>
        </p:spPr>
        <p:txBody>
          <a:bodyPr wrap="square" lIns="54864" tIns="54864" rIns="54864" bIns="54864" anchor="t">
            <a:spAutoFit/>
          </a:bodyPr>
          <a:lstStyle/>
          <a:p>
            <a:r>
              <a:rPr sz="1500" b="0">
                <a:solidFill>
                  <a:srgbClr val="232A3A"/>
                </a:solidFill>
                <a:latin typeface="Aptos"/>
              </a:rPr>
              <a:t>Human judgment is subjective and may not scale to large numbers of images.</a:t>
            </a:r>
          </a:p>
        </p:txBody>
      </p:sp>
      <p:sp>
        <p:nvSpPr>
          <p:cNvPr id="14" name="Rounded Rectangle 13"/>
          <p:cNvSpPr/>
          <p:nvPr/>
        </p:nvSpPr>
        <p:spPr>
          <a:xfrm>
            <a:off x="8138160" y="1554480"/>
            <a:ext cx="3429000" cy="20574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664207"/>
            <a:ext cx="64008" cy="1837943"/>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691639"/>
            <a:ext cx="3108960" cy="329184"/>
          </a:xfrm>
          <a:prstGeom prst="rect">
            <a:avLst/>
          </a:prstGeom>
          <a:noFill/>
        </p:spPr>
        <p:txBody>
          <a:bodyPr wrap="square" lIns="54864" tIns="54864" rIns="54864" bIns="54864" anchor="t">
            <a:spAutoFit/>
          </a:bodyPr>
          <a:lstStyle/>
          <a:p>
            <a:r>
              <a:rPr sz="1600" b="1">
                <a:solidFill>
                  <a:srgbClr val="17234F"/>
                </a:solidFill>
                <a:latin typeface="Aptos"/>
              </a:rPr>
              <a:t>Our project goal</a:t>
            </a:r>
          </a:p>
        </p:txBody>
      </p:sp>
      <p:sp>
        <p:nvSpPr>
          <p:cNvPr id="17" name="TextBox 16"/>
          <p:cNvSpPr txBox="1"/>
          <p:nvPr/>
        </p:nvSpPr>
        <p:spPr>
          <a:xfrm>
            <a:off x="8321040" y="2075688"/>
            <a:ext cx="3108960" cy="1435607"/>
          </a:xfrm>
          <a:prstGeom prst="rect">
            <a:avLst/>
          </a:prstGeom>
          <a:noFill/>
        </p:spPr>
        <p:txBody>
          <a:bodyPr wrap="square" lIns="54864" tIns="54864" rIns="54864" bIns="54864" anchor="t">
            <a:spAutoFit/>
          </a:bodyPr>
          <a:lstStyle/>
          <a:p>
            <a:r>
              <a:rPr sz="1500" b="0">
                <a:solidFill>
                  <a:srgbClr val="232A3A"/>
                </a:solidFill>
                <a:latin typeface="Aptos"/>
              </a:rPr>
              <a:t>Build a model that analyzes an uploaded image and predicts REAL or FAKE.</a:t>
            </a:r>
          </a:p>
        </p:txBody>
      </p:sp>
      <p:sp>
        <p:nvSpPr>
          <p:cNvPr id="18" name="TextBox 17"/>
          <p:cNvSpPr txBox="1"/>
          <p:nvPr/>
        </p:nvSpPr>
        <p:spPr>
          <a:xfrm>
            <a:off x="914400" y="4160520"/>
            <a:ext cx="10241280" cy="411480"/>
          </a:xfrm>
          <a:prstGeom prst="rect">
            <a:avLst/>
          </a:prstGeom>
          <a:noFill/>
        </p:spPr>
        <p:txBody>
          <a:bodyPr wrap="square" lIns="54864" tIns="54864" rIns="54864" bIns="54864" anchor="t">
            <a:spAutoFit/>
          </a:bodyPr>
          <a:lstStyle/>
          <a:p>
            <a:pPr algn="ctr"/>
            <a:r>
              <a:rPr sz="2100" b="1">
                <a:solidFill>
                  <a:srgbClr val="17234F"/>
                </a:solidFill>
                <a:latin typeface="Aptos"/>
              </a:rPr>
              <a:t>Input image  →  learned visual features  →  binary classification</a:t>
            </a:r>
          </a:p>
        </p:txBody>
      </p:sp>
      <p:sp>
        <p:nvSpPr>
          <p:cNvPr id="19" name="Rounded Rectangle 18"/>
          <p:cNvSpPr/>
          <p:nvPr/>
        </p:nvSpPr>
        <p:spPr>
          <a:xfrm>
            <a:off x="3840480" y="4983480"/>
            <a:ext cx="1828800" cy="502920"/>
          </a:xfrm>
          <a:prstGeom prst="roundRect">
            <a:avLst/>
          </a:prstGeom>
          <a:solidFill>
            <a:srgbClr val="23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REAL</a:t>
            </a:r>
          </a:p>
        </p:txBody>
      </p:sp>
      <p:sp>
        <p:nvSpPr>
          <p:cNvPr id="20" name="Rounded Rectangle 19"/>
          <p:cNvSpPr/>
          <p:nvPr/>
        </p:nvSpPr>
        <p:spPr>
          <a:xfrm>
            <a:off x="6492240" y="4983480"/>
            <a:ext cx="1828800" cy="502920"/>
          </a:xfrm>
          <a:prstGeom prst="roundRect">
            <a:avLst/>
          </a:prstGeom>
          <a:solidFill>
            <a:srgbClr val="D64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FAKE</a:t>
            </a:r>
          </a:p>
        </p:txBody>
      </p:sp>
      <p:sp>
        <p:nvSpPr>
          <p:cNvPr id="21" name="TextBox 20"/>
          <p:cNvSpPr txBox="1"/>
          <p:nvPr/>
        </p:nvSpPr>
        <p:spPr>
          <a:xfrm>
            <a:off x="1828800" y="5760720"/>
            <a:ext cx="8595360" cy="274320"/>
          </a:xfrm>
          <a:prstGeom prst="rect">
            <a:avLst/>
          </a:prstGeom>
          <a:noFill/>
        </p:spPr>
        <p:txBody>
          <a:bodyPr wrap="square" lIns="54864" tIns="54864" rIns="54864" bIns="54864" anchor="t">
            <a:spAutoFit/>
          </a:bodyPr>
          <a:lstStyle/>
          <a:p>
            <a:pPr algn="ctr"/>
            <a:r>
              <a:rPr sz="1200" b="0">
                <a:solidFill>
                  <a:srgbClr val="5D687D"/>
                </a:solidFill>
                <a:latin typeface="Aptos"/>
              </a:rPr>
              <a:t>The prediction is an estimate based on training data—not definitive forensic proof.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Project objectives</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A practical end-to-end image classification workflow.</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04</a:t>
            </a:r>
          </a:p>
        </p:txBody>
      </p:sp>
      <p:sp>
        <p:nvSpPr>
          <p:cNvPr id="6" name="Rounded Rectangle 5"/>
          <p:cNvSpPr/>
          <p:nvPr/>
        </p:nvSpPr>
        <p:spPr>
          <a:xfrm>
            <a:off x="731520" y="1508760"/>
            <a:ext cx="658368" cy="438912"/>
          </a:xfrm>
          <a:prstGeom prst="round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01</a:t>
            </a:r>
          </a:p>
        </p:txBody>
      </p:sp>
      <p:sp>
        <p:nvSpPr>
          <p:cNvPr id="7" name="TextBox 6"/>
          <p:cNvSpPr txBox="1"/>
          <p:nvPr/>
        </p:nvSpPr>
        <p:spPr>
          <a:xfrm>
            <a:off x="1600200" y="1490472"/>
            <a:ext cx="4389120" cy="320040"/>
          </a:xfrm>
          <a:prstGeom prst="rect">
            <a:avLst/>
          </a:prstGeom>
          <a:noFill/>
        </p:spPr>
        <p:txBody>
          <a:bodyPr wrap="square" lIns="54864" tIns="54864" rIns="54864" bIns="54864" anchor="t">
            <a:spAutoFit/>
          </a:bodyPr>
          <a:lstStyle/>
          <a:p>
            <a:r>
              <a:rPr sz="1800" b="1">
                <a:solidFill>
                  <a:srgbClr val="17234F"/>
                </a:solidFill>
                <a:latin typeface="Aptos"/>
              </a:rPr>
              <a:t>Classify images</a:t>
            </a:r>
          </a:p>
        </p:txBody>
      </p:sp>
      <p:sp>
        <p:nvSpPr>
          <p:cNvPr id="8" name="TextBox 7"/>
          <p:cNvSpPr txBox="1"/>
          <p:nvPr/>
        </p:nvSpPr>
        <p:spPr>
          <a:xfrm>
            <a:off x="1600200" y="1920240"/>
            <a:ext cx="4389120" cy="822960"/>
          </a:xfrm>
          <a:prstGeom prst="rect">
            <a:avLst/>
          </a:prstGeom>
          <a:noFill/>
        </p:spPr>
        <p:txBody>
          <a:bodyPr wrap="square" lIns="54864" tIns="54864" rIns="54864" bIns="54864" anchor="t">
            <a:spAutoFit/>
          </a:bodyPr>
          <a:lstStyle/>
          <a:p>
            <a:r>
              <a:rPr sz="1400" b="0">
                <a:solidFill>
                  <a:srgbClr val="232A3A"/>
                </a:solidFill>
                <a:latin typeface="Aptos"/>
              </a:rPr>
              <a:t>Predict one of two labels: REAL or FAKE.</a:t>
            </a:r>
          </a:p>
        </p:txBody>
      </p:sp>
      <p:sp>
        <p:nvSpPr>
          <p:cNvPr id="9" name="Rounded Rectangle 8"/>
          <p:cNvSpPr/>
          <p:nvPr/>
        </p:nvSpPr>
        <p:spPr>
          <a:xfrm>
            <a:off x="6355080" y="1508760"/>
            <a:ext cx="658368" cy="438912"/>
          </a:xfrm>
          <a:prstGeom prst="round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02</a:t>
            </a:r>
          </a:p>
        </p:txBody>
      </p:sp>
      <p:sp>
        <p:nvSpPr>
          <p:cNvPr id="10" name="TextBox 9"/>
          <p:cNvSpPr txBox="1"/>
          <p:nvPr/>
        </p:nvSpPr>
        <p:spPr>
          <a:xfrm>
            <a:off x="7223760" y="1490472"/>
            <a:ext cx="4389120" cy="320040"/>
          </a:xfrm>
          <a:prstGeom prst="rect">
            <a:avLst/>
          </a:prstGeom>
          <a:noFill/>
        </p:spPr>
        <p:txBody>
          <a:bodyPr wrap="square" lIns="54864" tIns="54864" rIns="54864" bIns="54864" anchor="t">
            <a:spAutoFit/>
          </a:bodyPr>
          <a:lstStyle/>
          <a:p>
            <a:r>
              <a:rPr sz="1800" b="1">
                <a:solidFill>
                  <a:srgbClr val="17234F"/>
                </a:solidFill>
                <a:latin typeface="Aptos"/>
              </a:rPr>
              <a:t>Learn visual patterns</a:t>
            </a:r>
          </a:p>
        </p:txBody>
      </p:sp>
      <p:sp>
        <p:nvSpPr>
          <p:cNvPr id="11" name="TextBox 10"/>
          <p:cNvSpPr txBox="1"/>
          <p:nvPr/>
        </p:nvSpPr>
        <p:spPr>
          <a:xfrm>
            <a:off x="7223760" y="1920240"/>
            <a:ext cx="4389120" cy="822960"/>
          </a:xfrm>
          <a:prstGeom prst="rect">
            <a:avLst/>
          </a:prstGeom>
          <a:noFill/>
        </p:spPr>
        <p:txBody>
          <a:bodyPr wrap="square" lIns="54864" tIns="54864" rIns="54864" bIns="54864" anchor="t">
            <a:spAutoFit/>
          </a:bodyPr>
          <a:lstStyle/>
          <a:p>
            <a:r>
              <a:rPr sz="1400" b="0">
                <a:solidFill>
                  <a:srgbClr val="232A3A"/>
                </a:solidFill>
                <a:latin typeface="Aptos"/>
              </a:rPr>
              <a:t>Use a deep CNN to learn image representations.</a:t>
            </a:r>
          </a:p>
        </p:txBody>
      </p:sp>
      <p:sp>
        <p:nvSpPr>
          <p:cNvPr id="12" name="Rounded Rectangle 11"/>
          <p:cNvSpPr/>
          <p:nvPr/>
        </p:nvSpPr>
        <p:spPr>
          <a:xfrm>
            <a:off x="731520" y="3474720"/>
            <a:ext cx="658368" cy="438912"/>
          </a:xfrm>
          <a:prstGeom prst="round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03</a:t>
            </a:r>
          </a:p>
        </p:txBody>
      </p:sp>
      <p:sp>
        <p:nvSpPr>
          <p:cNvPr id="13" name="TextBox 12"/>
          <p:cNvSpPr txBox="1"/>
          <p:nvPr/>
        </p:nvSpPr>
        <p:spPr>
          <a:xfrm>
            <a:off x="1600200" y="3456432"/>
            <a:ext cx="4389120" cy="320040"/>
          </a:xfrm>
          <a:prstGeom prst="rect">
            <a:avLst/>
          </a:prstGeom>
          <a:noFill/>
        </p:spPr>
        <p:txBody>
          <a:bodyPr wrap="square" lIns="54864" tIns="54864" rIns="54864" bIns="54864" anchor="t">
            <a:spAutoFit/>
          </a:bodyPr>
          <a:lstStyle/>
          <a:p>
            <a:r>
              <a:rPr sz="1800" b="1">
                <a:solidFill>
                  <a:srgbClr val="17234F"/>
                </a:solidFill>
                <a:latin typeface="Aptos"/>
              </a:rPr>
              <a:t>Measure performance</a:t>
            </a:r>
          </a:p>
        </p:txBody>
      </p:sp>
      <p:sp>
        <p:nvSpPr>
          <p:cNvPr id="14" name="TextBox 13"/>
          <p:cNvSpPr txBox="1"/>
          <p:nvPr/>
        </p:nvSpPr>
        <p:spPr>
          <a:xfrm>
            <a:off x="1600200" y="3886200"/>
            <a:ext cx="4389120" cy="822960"/>
          </a:xfrm>
          <a:prstGeom prst="rect">
            <a:avLst/>
          </a:prstGeom>
          <a:noFill/>
        </p:spPr>
        <p:txBody>
          <a:bodyPr wrap="square" lIns="54864" tIns="54864" rIns="54864" bIns="54864" anchor="t">
            <a:spAutoFit/>
          </a:bodyPr>
          <a:lstStyle/>
          <a:p>
            <a:r>
              <a:rPr sz="1400" b="0">
                <a:solidFill>
                  <a:srgbClr val="232A3A"/>
                </a:solidFill>
                <a:latin typeface="Aptos"/>
              </a:rPr>
              <a:t>Evaluate with accuracy, precision, recall, F1-score, and confusion matrix.</a:t>
            </a:r>
          </a:p>
        </p:txBody>
      </p:sp>
      <p:sp>
        <p:nvSpPr>
          <p:cNvPr id="15" name="Rounded Rectangle 14"/>
          <p:cNvSpPr/>
          <p:nvPr/>
        </p:nvSpPr>
        <p:spPr>
          <a:xfrm>
            <a:off x="6355080" y="3474720"/>
            <a:ext cx="658368" cy="438912"/>
          </a:xfrm>
          <a:prstGeom prst="roundRect">
            <a:avLst/>
          </a:prstGeom>
          <a:solidFill>
            <a:srgbClr val="23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04</a:t>
            </a:r>
          </a:p>
        </p:txBody>
      </p:sp>
      <p:sp>
        <p:nvSpPr>
          <p:cNvPr id="16" name="TextBox 15"/>
          <p:cNvSpPr txBox="1"/>
          <p:nvPr/>
        </p:nvSpPr>
        <p:spPr>
          <a:xfrm>
            <a:off x="7223760" y="3456432"/>
            <a:ext cx="4389120" cy="320040"/>
          </a:xfrm>
          <a:prstGeom prst="rect">
            <a:avLst/>
          </a:prstGeom>
          <a:noFill/>
        </p:spPr>
        <p:txBody>
          <a:bodyPr wrap="square" lIns="54864" tIns="54864" rIns="54864" bIns="54864" anchor="t">
            <a:spAutoFit/>
          </a:bodyPr>
          <a:lstStyle/>
          <a:p>
            <a:r>
              <a:rPr sz="1800" b="1">
                <a:solidFill>
                  <a:srgbClr val="17234F"/>
                </a:solidFill>
                <a:latin typeface="Aptos"/>
              </a:rPr>
              <a:t>Build a usable demo</a:t>
            </a:r>
          </a:p>
        </p:txBody>
      </p:sp>
      <p:sp>
        <p:nvSpPr>
          <p:cNvPr id="17" name="TextBox 16"/>
          <p:cNvSpPr txBox="1"/>
          <p:nvPr/>
        </p:nvSpPr>
        <p:spPr>
          <a:xfrm>
            <a:off x="7223760" y="3886200"/>
            <a:ext cx="4389120" cy="822960"/>
          </a:xfrm>
          <a:prstGeom prst="rect">
            <a:avLst/>
          </a:prstGeom>
          <a:noFill/>
        </p:spPr>
        <p:txBody>
          <a:bodyPr wrap="square" lIns="54864" tIns="54864" rIns="54864" bIns="54864" anchor="t">
            <a:spAutoFit/>
          </a:bodyPr>
          <a:lstStyle/>
          <a:p>
            <a:r>
              <a:rPr sz="1400" b="0">
                <a:solidFill>
                  <a:srgbClr val="232A3A"/>
                </a:solidFill>
                <a:latin typeface="Aptos"/>
              </a:rPr>
              <a:t>Let a user upload an image and view a prediction.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a:extLst>
            <a:ext uri="{FF2B5EF4-FFF2-40B4-BE49-F238E27FC236}">
              <a16:creationId xmlns:a16="http://schemas.microsoft.com/office/drawing/2014/main" id="{7FEAEAAE-07CD-3B7B-9A73-D51CC29BC6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19A623-A20D-D251-758E-2998F8F0BD42}"/>
              </a:ext>
            </a:extLst>
          </p:cNvPr>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Streamlit application and demo</a:t>
            </a:r>
          </a:p>
        </p:txBody>
      </p:sp>
      <p:sp>
        <p:nvSpPr>
          <p:cNvPr id="3" name="Rectangle 2">
            <a:extLst>
              <a:ext uri="{FF2B5EF4-FFF2-40B4-BE49-F238E27FC236}">
                <a16:creationId xmlns:a16="http://schemas.microsoft.com/office/drawing/2014/main" id="{D535B743-EB50-B9A3-9789-ED07C46FE416}"/>
              </a:ext>
            </a:extLst>
          </p:cNvPr>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4D1412E-B33B-4001-A1E3-83D730A60AB3}"/>
              </a:ext>
            </a:extLst>
          </p:cNvPr>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A simple interface makes the model testable without running training code.</a:t>
            </a:r>
          </a:p>
        </p:txBody>
      </p:sp>
      <p:sp>
        <p:nvSpPr>
          <p:cNvPr id="5" name="TextBox 4">
            <a:extLst>
              <a:ext uri="{FF2B5EF4-FFF2-40B4-BE49-F238E27FC236}">
                <a16:creationId xmlns:a16="http://schemas.microsoft.com/office/drawing/2014/main" id="{14EF2CE7-DDB2-2510-BB47-7EA8D82F0E0A}"/>
              </a:ext>
            </a:extLst>
          </p:cNvPr>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14</a:t>
            </a:r>
          </a:p>
        </p:txBody>
      </p:sp>
      <p:sp>
        <p:nvSpPr>
          <p:cNvPr id="6" name="Rounded Rectangle 5">
            <a:extLst>
              <a:ext uri="{FF2B5EF4-FFF2-40B4-BE49-F238E27FC236}">
                <a16:creationId xmlns:a16="http://schemas.microsoft.com/office/drawing/2014/main" id="{A36312E3-A3F3-83F8-3C21-928A2ADA01E9}"/>
              </a:ext>
            </a:extLst>
          </p:cNvPr>
          <p:cNvSpPr/>
          <p:nvPr/>
        </p:nvSpPr>
        <p:spPr>
          <a:xfrm>
            <a:off x="685800" y="1417320"/>
            <a:ext cx="6492240" cy="4251960"/>
          </a:xfrm>
          <a:prstGeom prst="roundRect">
            <a:avLst/>
          </a:prstGeom>
          <a:solidFill>
            <a:srgbClr val="FFFFFF"/>
          </a:solidFill>
          <a:ln>
            <a:solidFill>
              <a:srgbClr val="D2DA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B89618CA-BCBC-0520-31D1-2EED29A951BC}"/>
              </a:ext>
            </a:extLst>
          </p:cNvPr>
          <p:cNvSpPr/>
          <p:nvPr/>
        </p:nvSpPr>
        <p:spPr>
          <a:xfrm>
            <a:off x="685800" y="1417320"/>
            <a:ext cx="6492240" cy="384048"/>
          </a:xfrm>
          <a:prstGeom prst="rect">
            <a:avLst/>
          </a:prstGeom>
          <a:solidFill>
            <a:srgbClr val="E6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AAEB9A18-E2E2-4C34-D6F4-4C39177AE789}"/>
              </a:ext>
            </a:extLst>
          </p:cNvPr>
          <p:cNvSpPr/>
          <p:nvPr/>
        </p:nvSpPr>
        <p:spPr>
          <a:xfrm>
            <a:off x="868680" y="1536192"/>
            <a:ext cx="91440" cy="91440"/>
          </a:xfrm>
          <a:prstGeom prst="ellipse">
            <a:avLst/>
          </a:prstGeom>
          <a:solidFill>
            <a:srgbClr val="D64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9CAD036-72C6-6F3F-5048-37CF835F6BBE}"/>
              </a:ext>
            </a:extLst>
          </p:cNvPr>
          <p:cNvSpPr/>
          <p:nvPr/>
        </p:nvSpPr>
        <p:spPr>
          <a:xfrm>
            <a:off x="1069848" y="1536192"/>
            <a:ext cx="91440" cy="91440"/>
          </a:xfrm>
          <a:prstGeom prst="ellipse">
            <a:avLst/>
          </a:prstGeom>
          <a:solidFill>
            <a:srgbClr val="F0A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EB4CE7AE-5BD7-E1C0-BE13-707820157EDF}"/>
              </a:ext>
            </a:extLst>
          </p:cNvPr>
          <p:cNvSpPr/>
          <p:nvPr/>
        </p:nvSpPr>
        <p:spPr>
          <a:xfrm>
            <a:off x="1271016" y="1536192"/>
            <a:ext cx="91440" cy="91440"/>
          </a:xfrm>
          <a:prstGeom prst="ellipse">
            <a:avLst/>
          </a:prstGeom>
          <a:solidFill>
            <a:srgbClr val="23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a:extLst>
              <a:ext uri="{FF2B5EF4-FFF2-40B4-BE49-F238E27FC236}">
                <a16:creationId xmlns:a16="http://schemas.microsoft.com/office/drawing/2014/main" id="{7E748AC9-4094-F47E-F8E6-A8CE7C633D78}"/>
              </a:ext>
            </a:extLst>
          </p:cNvPr>
          <p:cNvSpPr/>
          <p:nvPr/>
        </p:nvSpPr>
        <p:spPr>
          <a:xfrm>
            <a:off x="7635240" y="1645920"/>
            <a:ext cx="3749039" cy="105156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742E3A69-33C2-37B7-F44F-A2337242E96E}"/>
              </a:ext>
            </a:extLst>
          </p:cNvPr>
          <p:cNvSpPr/>
          <p:nvPr/>
        </p:nvSpPr>
        <p:spPr>
          <a:xfrm>
            <a:off x="7635240" y="1755648"/>
            <a:ext cx="64008" cy="832103"/>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B68643F4-0726-1A32-7D56-FFF1B6DE7EBA}"/>
              </a:ext>
            </a:extLst>
          </p:cNvPr>
          <p:cNvSpPr txBox="1"/>
          <p:nvPr/>
        </p:nvSpPr>
        <p:spPr>
          <a:xfrm>
            <a:off x="7818119" y="1783080"/>
            <a:ext cx="3428999" cy="329184"/>
          </a:xfrm>
          <a:prstGeom prst="rect">
            <a:avLst/>
          </a:prstGeom>
          <a:noFill/>
        </p:spPr>
        <p:txBody>
          <a:bodyPr wrap="square" lIns="54864" tIns="54864" rIns="54864" bIns="54864" anchor="t">
            <a:spAutoFit/>
          </a:bodyPr>
          <a:lstStyle/>
          <a:p>
            <a:r>
              <a:rPr sz="1600" b="1">
                <a:solidFill>
                  <a:srgbClr val="17234F"/>
                </a:solidFill>
                <a:latin typeface="Aptos"/>
              </a:rPr>
              <a:t>1. Upload</a:t>
            </a:r>
          </a:p>
        </p:txBody>
      </p:sp>
      <p:sp>
        <p:nvSpPr>
          <p:cNvPr id="21" name="TextBox 20">
            <a:extLst>
              <a:ext uri="{FF2B5EF4-FFF2-40B4-BE49-F238E27FC236}">
                <a16:creationId xmlns:a16="http://schemas.microsoft.com/office/drawing/2014/main" id="{7067CFF6-0B54-B871-221C-45A69384B8AE}"/>
              </a:ext>
            </a:extLst>
          </p:cNvPr>
          <p:cNvSpPr txBox="1"/>
          <p:nvPr/>
        </p:nvSpPr>
        <p:spPr>
          <a:xfrm>
            <a:off x="7818119" y="2167128"/>
            <a:ext cx="3428999" cy="429767"/>
          </a:xfrm>
          <a:prstGeom prst="rect">
            <a:avLst/>
          </a:prstGeom>
          <a:noFill/>
        </p:spPr>
        <p:txBody>
          <a:bodyPr wrap="square" lIns="54864" tIns="54864" rIns="54864" bIns="54864" anchor="t">
            <a:spAutoFit/>
          </a:bodyPr>
          <a:lstStyle/>
          <a:p>
            <a:r>
              <a:rPr sz="1300" b="0">
                <a:solidFill>
                  <a:srgbClr val="232A3A"/>
                </a:solidFill>
                <a:latin typeface="Aptos"/>
              </a:rPr>
              <a:t>Select an image from your device.</a:t>
            </a:r>
          </a:p>
        </p:txBody>
      </p:sp>
      <p:sp>
        <p:nvSpPr>
          <p:cNvPr id="22" name="Rounded Rectangle 21">
            <a:extLst>
              <a:ext uri="{FF2B5EF4-FFF2-40B4-BE49-F238E27FC236}">
                <a16:creationId xmlns:a16="http://schemas.microsoft.com/office/drawing/2014/main" id="{95FD9FBC-DCAF-8AB9-9B9E-F16C8CAB6B14}"/>
              </a:ext>
            </a:extLst>
          </p:cNvPr>
          <p:cNvSpPr/>
          <p:nvPr/>
        </p:nvSpPr>
        <p:spPr>
          <a:xfrm>
            <a:off x="7635240" y="2926080"/>
            <a:ext cx="3749039" cy="105156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71C5219D-BEBD-08D0-FCEE-9CA1BB800682}"/>
              </a:ext>
            </a:extLst>
          </p:cNvPr>
          <p:cNvSpPr/>
          <p:nvPr/>
        </p:nvSpPr>
        <p:spPr>
          <a:xfrm>
            <a:off x="7635240" y="3035808"/>
            <a:ext cx="64008" cy="832103"/>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06B8FBDB-16CD-067E-5B02-A35114B5BCA2}"/>
              </a:ext>
            </a:extLst>
          </p:cNvPr>
          <p:cNvSpPr txBox="1"/>
          <p:nvPr/>
        </p:nvSpPr>
        <p:spPr>
          <a:xfrm>
            <a:off x="7818119" y="3063240"/>
            <a:ext cx="3428999" cy="329184"/>
          </a:xfrm>
          <a:prstGeom prst="rect">
            <a:avLst/>
          </a:prstGeom>
          <a:noFill/>
        </p:spPr>
        <p:txBody>
          <a:bodyPr wrap="square" lIns="54864" tIns="54864" rIns="54864" bIns="54864" anchor="t">
            <a:spAutoFit/>
          </a:bodyPr>
          <a:lstStyle/>
          <a:p>
            <a:r>
              <a:rPr sz="1600" b="1">
                <a:solidFill>
                  <a:srgbClr val="17234F"/>
                </a:solidFill>
                <a:latin typeface="Aptos"/>
              </a:rPr>
              <a:t>2. Preprocess</a:t>
            </a:r>
          </a:p>
        </p:txBody>
      </p:sp>
      <p:sp>
        <p:nvSpPr>
          <p:cNvPr id="25" name="TextBox 24">
            <a:extLst>
              <a:ext uri="{FF2B5EF4-FFF2-40B4-BE49-F238E27FC236}">
                <a16:creationId xmlns:a16="http://schemas.microsoft.com/office/drawing/2014/main" id="{95BB6447-1B69-6D86-94FA-88F52541FC98}"/>
              </a:ext>
            </a:extLst>
          </p:cNvPr>
          <p:cNvSpPr txBox="1"/>
          <p:nvPr/>
        </p:nvSpPr>
        <p:spPr>
          <a:xfrm>
            <a:off x="7818119" y="3447288"/>
            <a:ext cx="3428999" cy="429767"/>
          </a:xfrm>
          <a:prstGeom prst="rect">
            <a:avLst/>
          </a:prstGeom>
          <a:noFill/>
        </p:spPr>
        <p:txBody>
          <a:bodyPr wrap="square" lIns="54864" tIns="54864" rIns="54864" bIns="54864" anchor="t">
            <a:spAutoFit/>
          </a:bodyPr>
          <a:lstStyle/>
          <a:p>
            <a:r>
              <a:rPr sz="1300" b="0">
                <a:solidFill>
                  <a:srgbClr val="232A3A"/>
                </a:solidFill>
                <a:latin typeface="Aptos"/>
              </a:rPr>
              <a:t>Prepare it in the format expected by the model.</a:t>
            </a:r>
          </a:p>
        </p:txBody>
      </p:sp>
      <p:sp>
        <p:nvSpPr>
          <p:cNvPr id="26" name="Rounded Rectangle 25">
            <a:extLst>
              <a:ext uri="{FF2B5EF4-FFF2-40B4-BE49-F238E27FC236}">
                <a16:creationId xmlns:a16="http://schemas.microsoft.com/office/drawing/2014/main" id="{727E3FF0-0B54-D4C1-8FC6-E4F54F104412}"/>
              </a:ext>
            </a:extLst>
          </p:cNvPr>
          <p:cNvSpPr/>
          <p:nvPr/>
        </p:nvSpPr>
        <p:spPr>
          <a:xfrm>
            <a:off x="7635240" y="4206240"/>
            <a:ext cx="3749039" cy="105156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7D4B5EC0-A837-01EB-C38F-5D367F3EA00F}"/>
              </a:ext>
            </a:extLst>
          </p:cNvPr>
          <p:cNvSpPr/>
          <p:nvPr/>
        </p:nvSpPr>
        <p:spPr>
          <a:xfrm>
            <a:off x="7635240" y="4315968"/>
            <a:ext cx="64008" cy="832103"/>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6D33C0C1-8793-BE99-804A-46C980A73F03}"/>
              </a:ext>
            </a:extLst>
          </p:cNvPr>
          <p:cNvSpPr txBox="1"/>
          <p:nvPr/>
        </p:nvSpPr>
        <p:spPr>
          <a:xfrm>
            <a:off x="7818119" y="4343400"/>
            <a:ext cx="3428999" cy="329184"/>
          </a:xfrm>
          <a:prstGeom prst="rect">
            <a:avLst/>
          </a:prstGeom>
          <a:noFill/>
        </p:spPr>
        <p:txBody>
          <a:bodyPr wrap="square" lIns="54864" tIns="54864" rIns="54864" bIns="54864" anchor="t">
            <a:spAutoFit/>
          </a:bodyPr>
          <a:lstStyle/>
          <a:p>
            <a:r>
              <a:rPr sz="1600" b="1">
                <a:solidFill>
                  <a:srgbClr val="17234F"/>
                </a:solidFill>
                <a:latin typeface="Aptos"/>
              </a:rPr>
              <a:t>3. Interpret</a:t>
            </a:r>
          </a:p>
        </p:txBody>
      </p:sp>
      <p:sp>
        <p:nvSpPr>
          <p:cNvPr id="29" name="TextBox 28">
            <a:extLst>
              <a:ext uri="{FF2B5EF4-FFF2-40B4-BE49-F238E27FC236}">
                <a16:creationId xmlns:a16="http://schemas.microsoft.com/office/drawing/2014/main" id="{9E891833-0703-4EC9-8AB0-B150B0DBEB14}"/>
              </a:ext>
            </a:extLst>
          </p:cNvPr>
          <p:cNvSpPr txBox="1"/>
          <p:nvPr/>
        </p:nvSpPr>
        <p:spPr>
          <a:xfrm>
            <a:off x="7818119" y="4727448"/>
            <a:ext cx="3428999" cy="429767"/>
          </a:xfrm>
          <a:prstGeom prst="rect">
            <a:avLst/>
          </a:prstGeom>
          <a:noFill/>
        </p:spPr>
        <p:txBody>
          <a:bodyPr wrap="square" lIns="54864" tIns="54864" rIns="54864" bIns="54864" anchor="t">
            <a:spAutoFit/>
          </a:bodyPr>
          <a:lstStyle/>
          <a:p>
            <a:r>
              <a:rPr sz="1300" b="0">
                <a:solidFill>
                  <a:srgbClr val="232A3A"/>
                </a:solidFill>
                <a:latin typeface="Aptos"/>
              </a:rPr>
              <a:t>Display the predicted class and score, if supported.</a:t>
            </a:r>
          </a:p>
        </p:txBody>
      </p:sp>
      <p:pic>
        <p:nvPicPr>
          <p:cNvPr id="31" name="Picture 30">
            <a:extLst>
              <a:ext uri="{FF2B5EF4-FFF2-40B4-BE49-F238E27FC236}">
                <a16:creationId xmlns:a16="http://schemas.microsoft.com/office/drawing/2014/main" id="{CF14730B-6C60-E09C-0EB3-AABE90D0E440}"/>
              </a:ext>
            </a:extLst>
          </p:cNvPr>
          <p:cNvPicPr>
            <a:picLocks noChangeAspect="1"/>
          </p:cNvPicPr>
          <p:nvPr/>
        </p:nvPicPr>
        <p:blipFill>
          <a:blip r:embed="rId3"/>
          <a:stretch>
            <a:fillRect/>
          </a:stretch>
        </p:blipFill>
        <p:spPr>
          <a:xfrm>
            <a:off x="1271016" y="1956815"/>
            <a:ext cx="5313001" cy="3410712"/>
          </a:xfrm>
          <a:prstGeom prst="rect">
            <a:avLst/>
          </a:prstGeom>
        </p:spPr>
      </p:pic>
    </p:spTree>
    <p:extLst>
      <p:ext uri="{BB962C8B-B14F-4D97-AF65-F5344CB8AC3E}">
        <p14:creationId xmlns:p14="http://schemas.microsoft.com/office/powerpoint/2010/main" val="2468608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a:extLst>
            <a:ext uri="{FF2B5EF4-FFF2-40B4-BE49-F238E27FC236}">
              <a16:creationId xmlns:a16="http://schemas.microsoft.com/office/drawing/2014/main" id="{A993BC4D-DEDA-8B96-6E62-736C18F89F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742C9B-A468-8F21-0B7B-CC8DD2E3B9CE}"/>
              </a:ext>
            </a:extLst>
          </p:cNvPr>
          <p:cNvSpPr txBox="1"/>
          <p:nvPr/>
        </p:nvSpPr>
        <p:spPr>
          <a:xfrm>
            <a:off x="438912" y="182881"/>
            <a:ext cx="11155680" cy="541687"/>
          </a:xfrm>
          <a:prstGeom prst="rect">
            <a:avLst/>
          </a:prstGeom>
          <a:noFill/>
        </p:spPr>
        <p:txBody>
          <a:bodyPr wrap="square" lIns="54864" tIns="54864" rIns="54864" bIns="54864" anchor="t">
            <a:spAutoFit/>
          </a:bodyPr>
          <a:lstStyle/>
          <a:p>
            <a:r>
              <a:rPr sz="2800" b="1" dirty="0" err="1">
                <a:solidFill>
                  <a:srgbClr val="17234F"/>
                </a:solidFill>
                <a:latin typeface="Aptos"/>
              </a:rPr>
              <a:t>Streamlit</a:t>
            </a:r>
            <a:r>
              <a:rPr sz="2800" b="1" dirty="0">
                <a:solidFill>
                  <a:srgbClr val="17234F"/>
                </a:solidFill>
                <a:latin typeface="Aptos"/>
              </a:rPr>
              <a:t> </a:t>
            </a:r>
            <a:r>
              <a:rPr lang="en-IN" sz="2800" b="1" dirty="0">
                <a:solidFill>
                  <a:srgbClr val="17234F"/>
                </a:solidFill>
                <a:latin typeface="Aptos"/>
              </a:rPr>
              <a:t>Interface</a:t>
            </a:r>
            <a:endParaRPr sz="2800" b="1" dirty="0">
              <a:solidFill>
                <a:srgbClr val="17234F"/>
              </a:solidFill>
              <a:latin typeface="Aptos"/>
            </a:endParaRPr>
          </a:p>
        </p:txBody>
      </p:sp>
      <p:sp>
        <p:nvSpPr>
          <p:cNvPr id="3" name="Rectangle 2">
            <a:extLst>
              <a:ext uri="{FF2B5EF4-FFF2-40B4-BE49-F238E27FC236}">
                <a16:creationId xmlns:a16="http://schemas.microsoft.com/office/drawing/2014/main" id="{204B56CF-BCAF-9C1D-91CA-F3EAE0CCC086}"/>
              </a:ext>
            </a:extLst>
          </p:cNvPr>
          <p:cNvSpPr/>
          <p:nvPr/>
        </p:nvSpPr>
        <p:spPr>
          <a:xfrm>
            <a:off x="482600" y="699422"/>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DA3BF04-CD9C-EC75-EE07-924BD40741EA}"/>
              </a:ext>
            </a:extLst>
          </p:cNvPr>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14</a:t>
            </a:r>
          </a:p>
        </p:txBody>
      </p:sp>
      <p:sp>
        <p:nvSpPr>
          <p:cNvPr id="6" name="Rounded Rectangle 5">
            <a:extLst>
              <a:ext uri="{FF2B5EF4-FFF2-40B4-BE49-F238E27FC236}">
                <a16:creationId xmlns:a16="http://schemas.microsoft.com/office/drawing/2014/main" id="{1CB96C72-550E-F61D-0A46-79C9037F957C}"/>
              </a:ext>
            </a:extLst>
          </p:cNvPr>
          <p:cNvSpPr/>
          <p:nvPr/>
        </p:nvSpPr>
        <p:spPr>
          <a:xfrm>
            <a:off x="685800" y="1050396"/>
            <a:ext cx="10817352" cy="5371846"/>
          </a:xfrm>
          <a:prstGeom prst="roundRect">
            <a:avLst/>
          </a:prstGeom>
          <a:solidFill>
            <a:srgbClr val="FFFFFF"/>
          </a:solidFill>
          <a:ln>
            <a:solidFill>
              <a:srgbClr val="D2DAEB"/>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dirty="0">
              <a:solidFill>
                <a:srgbClr val="232A3A"/>
              </a:solidFill>
              <a:latin typeface="Aptos"/>
            </a:endParaRPr>
          </a:p>
        </p:txBody>
      </p:sp>
      <p:sp>
        <p:nvSpPr>
          <p:cNvPr id="7" name="Rectangle 6">
            <a:extLst>
              <a:ext uri="{FF2B5EF4-FFF2-40B4-BE49-F238E27FC236}">
                <a16:creationId xmlns:a16="http://schemas.microsoft.com/office/drawing/2014/main" id="{300BFA45-718D-E1BB-827B-9B6A81D989A8}"/>
              </a:ext>
            </a:extLst>
          </p:cNvPr>
          <p:cNvSpPr/>
          <p:nvPr/>
        </p:nvSpPr>
        <p:spPr>
          <a:xfrm>
            <a:off x="685800" y="953008"/>
            <a:ext cx="10908793" cy="384048"/>
          </a:xfrm>
          <a:prstGeom prst="rect">
            <a:avLst/>
          </a:prstGeom>
          <a:solidFill>
            <a:srgbClr val="E6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FA572DBF-91A6-9934-1D73-ACF8AEB48AC4}"/>
              </a:ext>
            </a:extLst>
          </p:cNvPr>
          <p:cNvPicPr>
            <a:picLocks noChangeAspect="1"/>
          </p:cNvPicPr>
          <p:nvPr/>
        </p:nvPicPr>
        <p:blipFill>
          <a:blip r:embed="rId3"/>
          <a:stretch>
            <a:fillRect/>
          </a:stretch>
        </p:blipFill>
        <p:spPr>
          <a:xfrm>
            <a:off x="1043347" y="1876376"/>
            <a:ext cx="4973405" cy="3732369"/>
          </a:xfrm>
          <a:prstGeom prst="rect">
            <a:avLst/>
          </a:prstGeom>
        </p:spPr>
      </p:pic>
      <p:pic>
        <p:nvPicPr>
          <p:cNvPr id="14" name="Picture 13">
            <a:extLst>
              <a:ext uri="{FF2B5EF4-FFF2-40B4-BE49-F238E27FC236}">
                <a16:creationId xmlns:a16="http://schemas.microsoft.com/office/drawing/2014/main" id="{12808E7A-66BD-3BE8-2AA6-BC10A029F71B}"/>
              </a:ext>
            </a:extLst>
          </p:cNvPr>
          <p:cNvPicPr>
            <a:picLocks noChangeAspect="1"/>
          </p:cNvPicPr>
          <p:nvPr/>
        </p:nvPicPr>
        <p:blipFill>
          <a:blip r:embed="rId4"/>
          <a:stretch>
            <a:fillRect/>
          </a:stretch>
        </p:blipFill>
        <p:spPr>
          <a:xfrm>
            <a:off x="6468533" y="1876376"/>
            <a:ext cx="4831630" cy="3719886"/>
          </a:xfrm>
          <a:prstGeom prst="rect">
            <a:avLst/>
          </a:prstGeom>
        </p:spPr>
      </p:pic>
      <p:sp>
        <p:nvSpPr>
          <p:cNvPr id="16" name="Oval 15">
            <a:extLst>
              <a:ext uri="{FF2B5EF4-FFF2-40B4-BE49-F238E27FC236}">
                <a16:creationId xmlns:a16="http://schemas.microsoft.com/office/drawing/2014/main" id="{A9BAF716-0CAC-7C34-A309-465BE0EB0BC6}"/>
              </a:ext>
            </a:extLst>
          </p:cNvPr>
          <p:cNvSpPr/>
          <p:nvPr/>
        </p:nvSpPr>
        <p:spPr>
          <a:xfrm>
            <a:off x="883370" y="1104501"/>
            <a:ext cx="91440" cy="91440"/>
          </a:xfrm>
          <a:prstGeom prst="ellipse">
            <a:avLst/>
          </a:prstGeom>
          <a:solidFill>
            <a:srgbClr val="D64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a:extLst>
              <a:ext uri="{FF2B5EF4-FFF2-40B4-BE49-F238E27FC236}">
                <a16:creationId xmlns:a16="http://schemas.microsoft.com/office/drawing/2014/main" id="{8861656E-076A-0E42-5FEE-083B2BFE262F}"/>
              </a:ext>
            </a:extLst>
          </p:cNvPr>
          <p:cNvSpPr/>
          <p:nvPr/>
        </p:nvSpPr>
        <p:spPr>
          <a:xfrm>
            <a:off x="1080940" y="1099312"/>
            <a:ext cx="91440" cy="91440"/>
          </a:xfrm>
          <a:prstGeom prst="ellipse">
            <a:avLst/>
          </a:prstGeom>
          <a:solidFill>
            <a:srgbClr val="F0A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a:extLst>
              <a:ext uri="{FF2B5EF4-FFF2-40B4-BE49-F238E27FC236}">
                <a16:creationId xmlns:a16="http://schemas.microsoft.com/office/drawing/2014/main" id="{4C583D38-93F6-5B81-AF6C-3900F2D3B5E2}"/>
              </a:ext>
            </a:extLst>
          </p:cNvPr>
          <p:cNvSpPr/>
          <p:nvPr/>
        </p:nvSpPr>
        <p:spPr>
          <a:xfrm>
            <a:off x="1278510" y="1104501"/>
            <a:ext cx="91440" cy="91440"/>
          </a:xfrm>
          <a:prstGeom prst="ellipse">
            <a:avLst/>
          </a:prstGeom>
          <a:solidFill>
            <a:srgbClr val="23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80A138D2-2F90-9D37-2E51-8A5EFF7593E5}"/>
              </a:ext>
            </a:extLst>
          </p:cNvPr>
          <p:cNvSpPr txBox="1"/>
          <p:nvPr/>
        </p:nvSpPr>
        <p:spPr>
          <a:xfrm>
            <a:off x="2260600" y="5778733"/>
            <a:ext cx="3691467" cy="369332"/>
          </a:xfrm>
          <a:prstGeom prst="rect">
            <a:avLst/>
          </a:prstGeom>
          <a:noFill/>
        </p:spPr>
        <p:txBody>
          <a:bodyPr wrap="square" rtlCol="0">
            <a:spAutoFit/>
          </a:bodyPr>
          <a:lstStyle/>
          <a:p>
            <a:r>
              <a:rPr lang="en-IN" dirty="0"/>
              <a:t>Fake image detected</a:t>
            </a:r>
          </a:p>
        </p:txBody>
      </p:sp>
      <p:sp>
        <p:nvSpPr>
          <p:cNvPr id="35" name="TextBox 34">
            <a:extLst>
              <a:ext uri="{FF2B5EF4-FFF2-40B4-BE49-F238E27FC236}">
                <a16:creationId xmlns:a16="http://schemas.microsoft.com/office/drawing/2014/main" id="{543E366C-32B2-CE8B-A735-B900EE997E10}"/>
              </a:ext>
            </a:extLst>
          </p:cNvPr>
          <p:cNvSpPr txBox="1"/>
          <p:nvPr/>
        </p:nvSpPr>
        <p:spPr>
          <a:xfrm>
            <a:off x="8012853" y="5712968"/>
            <a:ext cx="3691467" cy="384048"/>
          </a:xfrm>
          <a:prstGeom prst="rect">
            <a:avLst/>
          </a:prstGeom>
          <a:noFill/>
        </p:spPr>
        <p:txBody>
          <a:bodyPr wrap="square" rtlCol="0">
            <a:spAutoFit/>
          </a:bodyPr>
          <a:lstStyle/>
          <a:p>
            <a:r>
              <a:rPr lang="en-IN" dirty="0"/>
              <a:t>Real image detected</a:t>
            </a:r>
          </a:p>
        </p:txBody>
      </p:sp>
    </p:spTree>
    <p:extLst>
      <p:ext uri="{BB962C8B-B14F-4D97-AF65-F5344CB8AC3E}">
        <p14:creationId xmlns:p14="http://schemas.microsoft.com/office/powerpoint/2010/main" val="1171432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Existing approaches vs our solution</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The project automates a repeatable first-pass classification.</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05</a:t>
            </a:r>
          </a:p>
        </p:txBody>
      </p:sp>
      <p:sp>
        <p:nvSpPr>
          <p:cNvPr id="6" name="Rounded Rectangle 5"/>
          <p:cNvSpPr/>
          <p:nvPr/>
        </p:nvSpPr>
        <p:spPr>
          <a:xfrm>
            <a:off x="640080" y="1508760"/>
            <a:ext cx="5212080" cy="306324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18488"/>
            <a:ext cx="64008" cy="2843784"/>
          </a:xfrm>
          <a:prstGeom prst="rect">
            <a:avLst/>
          </a:prstGeom>
          <a:solidFill>
            <a:srgbClr val="F0A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645919"/>
            <a:ext cx="4892040" cy="329184"/>
          </a:xfrm>
          <a:prstGeom prst="rect">
            <a:avLst/>
          </a:prstGeom>
          <a:noFill/>
        </p:spPr>
        <p:txBody>
          <a:bodyPr wrap="square" lIns="54864" tIns="54864" rIns="54864" bIns="54864" anchor="t">
            <a:spAutoFit/>
          </a:bodyPr>
          <a:lstStyle/>
          <a:p>
            <a:r>
              <a:rPr sz="1600" b="1">
                <a:solidFill>
                  <a:srgbClr val="17234F"/>
                </a:solidFill>
                <a:latin typeface="Aptos"/>
              </a:rPr>
              <a:t>Manual inspection</a:t>
            </a:r>
          </a:p>
        </p:txBody>
      </p:sp>
      <p:sp>
        <p:nvSpPr>
          <p:cNvPr id="9" name="TextBox 8"/>
          <p:cNvSpPr txBox="1"/>
          <p:nvPr/>
        </p:nvSpPr>
        <p:spPr>
          <a:xfrm>
            <a:off x="822959" y="2029967"/>
            <a:ext cx="4892040" cy="2441448"/>
          </a:xfrm>
          <a:prstGeom prst="rect">
            <a:avLst/>
          </a:prstGeom>
          <a:noFill/>
        </p:spPr>
        <p:txBody>
          <a:bodyPr wrap="square" lIns="54864" tIns="54864" rIns="54864" bIns="54864" anchor="t">
            <a:spAutoFit/>
          </a:bodyPr>
          <a:lstStyle/>
          <a:p>
            <a:r>
              <a:rPr sz="1600" b="0">
                <a:solidFill>
                  <a:srgbClr val="232A3A"/>
                </a:solidFill>
                <a:latin typeface="Aptos"/>
              </a:rPr>
              <a:t>• A person looks for visual inconsistencies
• Results can vary by observer
• Difficult to apply consistently at scale
• Skilled forensic analysis may still be needed</a:t>
            </a:r>
          </a:p>
        </p:txBody>
      </p:sp>
      <p:sp>
        <p:nvSpPr>
          <p:cNvPr id="10" name="Rounded Rectangle 9"/>
          <p:cNvSpPr/>
          <p:nvPr/>
        </p:nvSpPr>
        <p:spPr>
          <a:xfrm>
            <a:off x="6309360" y="1508760"/>
            <a:ext cx="5212080" cy="306324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618488"/>
            <a:ext cx="64008" cy="2843784"/>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645919"/>
            <a:ext cx="4892040" cy="329184"/>
          </a:xfrm>
          <a:prstGeom prst="rect">
            <a:avLst/>
          </a:prstGeom>
          <a:noFill/>
        </p:spPr>
        <p:txBody>
          <a:bodyPr wrap="square" lIns="54864" tIns="54864" rIns="54864" bIns="54864" anchor="t">
            <a:spAutoFit/>
          </a:bodyPr>
          <a:lstStyle/>
          <a:p>
            <a:r>
              <a:rPr sz="1600" b="1">
                <a:solidFill>
                  <a:srgbClr val="17234F"/>
                </a:solidFill>
                <a:latin typeface="Aptos"/>
              </a:rPr>
              <a:t>Proposed deep learning approach</a:t>
            </a:r>
          </a:p>
        </p:txBody>
      </p:sp>
      <p:sp>
        <p:nvSpPr>
          <p:cNvPr id="13" name="TextBox 12"/>
          <p:cNvSpPr txBox="1"/>
          <p:nvPr/>
        </p:nvSpPr>
        <p:spPr>
          <a:xfrm>
            <a:off x="6492240" y="2029967"/>
            <a:ext cx="4892040" cy="2441448"/>
          </a:xfrm>
          <a:prstGeom prst="rect">
            <a:avLst/>
          </a:prstGeom>
          <a:noFill/>
        </p:spPr>
        <p:txBody>
          <a:bodyPr wrap="square" lIns="54864" tIns="54864" rIns="54864" bIns="54864" anchor="t">
            <a:spAutoFit/>
          </a:bodyPr>
          <a:lstStyle/>
          <a:p>
            <a:r>
              <a:rPr sz="1600" b="0">
                <a:solidFill>
                  <a:srgbClr val="232A3A"/>
                </a:solidFill>
                <a:latin typeface="Aptos"/>
              </a:rPr>
              <a:t>• Preprocess an image consistently
• Extract learned features with EfficientNetB0
• Produce a REAL/FAKE score or label
• Reuse the same inference pipeline for each image</a:t>
            </a:r>
          </a:p>
        </p:txBody>
      </p:sp>
      <p:sp>
        <p:nvSpPr>
          <p:cNvPr id="14" name="TextBox 13"/>
          <p:cNvSpPr txBox="1"/>
          <p:nvPr/>
        </p:nvSpPr>
        <p:spPr>
          <a:xfrm>
            <a:off x="1005840" y="5074920"/>
            <a:ext cx="10241280" cy="502920"/>
          </a:xfrm>
          <a:prstGeom prst="rect">
            <a:avLst/>
          </a:prstGeom>
          <a:noFill/>
        </p:spPr>
        <p:txBody>
          <a:bodyPr wrap="square" lIns="54864" tIns="54864" rIns="54864" bIns="54864" anchor="t">
            <a:spAutoFit/>
          </a:bodyPr>
          <a:lstStyle/>
          <a:p>
            <a:pPr algn="ctr"/>
            <a:r>
              <a:rPr sz="1600" b="1" dirty="0">
                <a:solidFill>
                  <a:srgbClr val="D64B5B"/>
                </a:solidFill>
                <a:latin typeface="Aptos"/>
              </a:rPr>
              <a:t>Important: automated prediction supports review; it does not replace forensic verification.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Dataset and preprocessing</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Consistent inputs help the model learn comparable visual patterns.</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06</a:t>
            </a:r>
          </a:p>
        </p:txBody>
      </p:sp>
      <p:sp>
        <p:nvSpPr>
          <p:cNvPr id="6" name="Rounded Rectangle 5"/>
          <p:cNvSpPr/>
          <p:nvPr/>
        </p:nvSpPr>
        <p:spPr>
          <a:xfrm>
            <a:off x="502920" y="1874519"/>
            <a:ext cx="1828800" cy="1097280"/>
          </a:xfrm>
          <a:prstGeom prst="roundRect">
            <a:avLst/>
          </a:prstGeom>
          <a:solidFill>
            <a:srgbClr val="E6EEFF"/>
          </a:solidFill>
          <a:ln>
            <a:solidFill>
              <a:srgbClr val="D7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72" y="2057400"/>
            <a:ext cx="1682496" cy="292608"/>
          </a:xfrm>
          <a:prstGeom prst="rect">
            <a:avLst/>
          </a:prstGeom>
          <a:noFill/>
        </p:spPr>
        <p:txBody>
          <a:bodyPr wrap="square" lIns="54864" tIns="54864" rIns="54864" bIns="54864" anchor="t">
            <a:spAutoFit/>
          </a:bodyPr>
          <a:lstStyle/>
          <a:p>
            <a:pPr algn="ctr"/>
            <a:r>
              <a:rPr sz="1400" b="1">
                <a:solidFill>
                  <a:srgbClr val="17234F"/>
                </a:solidFill>
                <a:latin typeface="Aptos"/>
              </a:rPr>
              <a:t>Image folders</a:t>
            </a:r>
          </a:p>
        </p:txBody>
      </p:sp>
      <p:sp>
        <p:nvSpPr>
          <p:cNvPr id="8" name="TextBox 7"/>
          <p:cNvSpPr txBox="1"/>
          <p:nvPr/>
        </p:nvSpPr>
        <p:spPr>
          <a:xfrm>
            <a:off x="576072" y="2441448"/>
            <a:ext cx="1682496" cy="274320"/>
          </a:xfrm>
          <a:prstGeom prst="rect">
            <a:avLst/>
          </a:prstGeom>
          <a:noFill/>
        </p:spPr>
        <p:txBody>
          <a:bodyPr wrap="square" lIns="54864" tIns="54864" rIns="54864" bIns="54864" anchor="t">
            <a:spAutoFit/>
          </a:bodyPr>
          <a:lstStyle/>
          <a:p>
            <a:pPr algn="ctr"/>
            <a:r>
              <a:rPr sz="1100" b="0">
                <a:solidFill>
                  <a:srgbClr val="5D687D"/>
                </a:solidFill>
                <a:latin typeface="Aptos"/>
              </a:rPr>
              <a:t>REAL / FAKE</a:t>
            </a:r>
          </a:p>
        </p:txBody>
      </p:sp>
      <p:cxnSp>
        <p:nvCxnSpPr>
          <p:cNvPr id="9" name="Connector 8"/>
          <p:cNvCxnSpPr/>
          <p:nvPr/>
        </p:nvCxnSpPr>
        <p:spPr>
          <a:xfrm>
            <a:off x="2359152" y="2423160"/>
            <a:ext cx="420624" cy="0"/>
          </a:xfrm>
          <a:prstGeom prst="line">
            <a:avLst/>
          </a:prstGeom>
          <a:ln w="20320">
            <a:solidFill>
              <a:srgbClr val="3563E9"/>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34640" y="1874519"/>
            <a:ext cx="1828800" cy="1097280"/>
          </a:xfrm>
          <a:prstGeom prst="roundRect">
            <a:avLst/>
          </a:prstGeom>
          <a:solidFill>
            <a:srgbClr val="F1EAFF"/>
          </a:solidFill>
          <a:ln>
            <a:solidFill>
              <a:srgbClr val="D7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07792" y="2057400"/>
            <a:ext cx="1682496" cy="292608"/>
          </a:xfrm>
          <a:prstGeom prst="rect">
            <a:avLst/>
          </a:prstGeom>
          <a:noFill/>
        </p:spPr>
        <p:txBody>
          <a:bodyPr wrap="square" lIns="54864" tIns="54864" rIns="54864" bIns="54864" anchor="t">
            <a:spAutoFit/>
          </a:bodyPr>
          <a:lstStyle/>
          <a:p>
            <a:pPr algn="ctr"/>
            <a:r>
              <a:rPr sz="1400" b="1">
                <a:solidFill>
                  <a:srgbClr val="17234F"/>
                </a:solidFill>
                <a:latin typeface="Aptos"/>
              </a:rPr>
              <a:t>Load &amp; label</a:t>
            </a:r>
          </a:p>
        </p:txBody>
      </p:sp>
      <p:sp>
        <p:nvSpPr>
          <p:cNvPr id="12" name="TextBox 11"/>
          <p:cNvSpPr txBox="1"/>
          <p:nvPr/>
        </p:nvSpPr>
        <p:spPr>
          <a:xfrm>
            <a:off x="2907792" y="2441448"/>
            <a:ext cx="1682496" cy="274320"/>
          </a:xfrm>
          <a:prstGeom prst="rect">
            <a:avLst/>
          </a:prstGeom>
          <a:noFill/>
        </p:spPr>
        <p:txBody>
          <a:bodyPr wrap="square" lIns="54864" tIns="54864" rIns="54864" bIns="54864" anchor="t">
            <a:spAutoFit/>
          </a:bodyPr>
          <a:lstStyle/>
          <a:p>
            <a:pPr algn="ctr"/>
            <a:r>
              <a:rPr sz="1100" b="0">
                <a:solidFill>
                  <a:srgbClr val="5D687D"/>
                </a:solidFill>
                <a:latin typeface="Aptos"/>
              </a:rPr>
              <a:t>Binary labels</a:t>
            </a:r>
          </a:p>
        </p:txBody>
      </p:sp>
      <p:cxnSp>
        <p:nvCxnSpPr>
          <p:cNvPr id="13" name="Connector 12"/>
          <p:cNvCxnSpPr/>
          <p:nvPr/>
        </p:nvCxnSpPr>
        <p:spPr>
          <a:xfrm>
            <a:off x="4690872" y="2423160"/>
            <a:ext cx="420624" cy="0"/>
          </a:xfrm>
          <a:prstGeom prst="line">
            <a:avLst/>
          </a:prstGeom>
          <a:ln w="20320">
            <a:solidFill>
              <a:srgbClr val="3563E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66360" y="1874519"/>
            <a:ext cx="1828800" cy="1097280"/>
          </a:xfrm>
          <a:prstGeom prst="roundRect">
            <a:avLst/>
          </a:prstGeom>
          <a:solidFill>
            <a:srgbClr val="FFFFFF"/>
          </a:solidFill>
          <a:ln>
            <a:solidFill>
              <a:srgbClr val="D7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39512" y="2057400"/>
            <a:ext cx="1682496" cy="292608"/>
          </a:xfrm>
          <a:prstGeom prst="rect">
            <a:avLst/>
          </a:prstGeom>
          <a:noFill/>
        </p:spPr>
        <p:txBody>
          <a:bodyPr wrap="square" lIns="54864" tIns="54864" rIns="54864" bIns="54864" anchor="t">
            <a:spAutoFit/>
          </a:bodyPr>
          <a:lstStyle/>
          <a:p>
            <a:pPr algn="ctr"/>
            <a:r>
              <a:rPr sz="1400" b="1">
                <a:solidFill>
                  <a:srgbClr val="17234F"/>
                </a:solidFill>
                <a:latin typeface="Aptos"/>
              </a:rPr>
              <a:t>Resize</a:t>
            </a:r>
          </a:p>
        </p:txBody>
      </p:sp>
      <p:sp>
        <p:nvSpPr>
          <p:cNvPr id="16" name="TextBox 15"/>
          <p:cNvSpPr txBox="1"/>
          <p:nvPr/>
        </p:nvSpPr>
        <p:spPr>
          <a:xfrm>
            <a:off x="5239512" y="2441448"/>
            <a:ext cx="1682496" cy="274320"/>
          </a:xfrm>
          <a:prstGeom prst="rect">
            <a:avLst/>
          </a:prstGeom>
          <a:noFill/>
        </p:spPr>
        <p:txBody>
          <a:bodyPr wrap="square" lIns="54864" tIns="54864" rIns="54864" bIns="54864" anchor="t">
            <a:spAutoFit/>
          </a:bodyPr>
          <a:lstStyle/>
          <a:p>
            <a:pPr algn="ctr"/>
            <a:r>
              <a:rPr sz="1100" b="0">
                <a:solidFill>
                  <a:srgbClr val="5D687D"/>
                </a:solidFill>
                <a:latin typeface="Aptos"/>
              </a:rPr>
              <a:t>224 × 224</a:t>
            </a:r>
          </a:p>
        </p:txBody>
      </p:sp>
      <p:cxnSp>
        <p:nvCxnSpPr>
          <p:cNvPr id="17" name="Connector 16"/>
          <p:cNvCxnSpPr/>
          <p:nvPr/>
        </p:nvCxnSpPr>
        <p:spPr>
          <a:xfrm>
            <a:off x="7022592" y="2423160"/>
            <a:ext cx="420623" cy="0"/>
          </a:xfrm>
          <a:prstGeom prst="line">
            <a:avLst/>
          </a:prstGeom>
          <a:ln w="20320">
            <a:solidFill>
              <a:srgbClr val="3563E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98079" y="1874519"/>
            <a:ext cx="1828800" cy="1097280"/>
          </a:xfrm>
          <a:prstGeom prst="roundRect">
            <a:avLst/>
          </a:prstGeom>
          <a:solidFill>
            <a:srgbClr val="E6EEFF"/>
          </a:solidFill>
          <a:ln>
            <a:solidFill>
              <a:srgbClr val="D7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71231" y="2057400"/>
            <a:ext cx="1682496" cy="292608"/>
          </a:xfrm>
          <a:prstGeom prst="rect">
            <a:avLst/>
          </a:prstGeom>
          <a:noFill/>
        </p:spPr>
        <p:txBody>
          <a:bodyPr wrap="square" lIns="54864" tIns="54864" rIns="54864" bIns="54864" anchor="t">
            <a:spAutoFit/>
          </a:bodyPr>
          <a:lstStyle/>
          <a:p>
            <a:pPr algn="ctr"/>
            <a:r>
              <a:rPr sz="1400" b="1">
                <a:solidFill>
                  <a:srgbClr val="17234F"/>
                </a:solidFill>
                <a:latin typeface="Aptos"/>
              </a:rPr>
              <a:t>Batch</a:t>
            </a:r>
          </a:p>
        </p:txBody>
      </p:sp>
      <p:sp>
        <p:nvSpPr>
          <p:cNvPr id="20" name="TextBox 19"/>
          <p:cNvSpPr txBox="1"/>
          <p:nvPr/>
        </p:nvSpPr>
        <p:spPr>
          <a:xfrm>
            <a:off x="7571231" y="2441448"/>
            <a:ext cx="1682496" cy="274320"/>
          </a:xfrm>
          <a:prstGeom prst="rect">
            <a:avLst/>
          </a:prstGeom>
          <a:noFill/>
        </p:spPr>
        <p:txBody>
          <a:bodyPr wrap="square" lIns="54864" tIns="54864" rIns="54864" bIns="54864" anchor="t">
            <a:spAutoFit/>
          </a:bodyPr>
          <a:lstStyle/>
          <a:p>
            <a:pPr algn="ctr"/>
            <a:r>
              <a:rPr sz="1100" b="0">
                <a:solidFill>
                  <a:srgbClr val="5D687D"/>
                </a:solidFill>
                <a:latin typeface="Aptos"/>
              </a:rPr>
              <a:t>Mini-batches</a:t>
            </a:r>
          </a:p>
        </p:txBody>
      </p:sp>
      <p:cxnSp>
        <p:nvCxnSpPr>
          <p:cNvPr id="21" name="Connector 20"/>
          <p:cNvCxnSpPr/>
          <p:nvPr/>
        </p:nvCxnSpPr>
        <p:spPr>
          <a:xfrm>
            <a:off x="9354311" y="2423160"/>
            <a:ext cx="420625" cy="0"/>
          </a:xfrm>
          <a:prstGeom prst="line">
            <a:avLst/>
          </a:prstGeom>
          <a:ln w="20320">
            <a:solidFill>
              <a:srgbClr val="3563E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29800" y="1874519"/>
            <a:ext cx="1828800" cy="1097280"/>
          </a:xfrm>
          <a:prstGeom prst="roundRect">
            <a:avLst/>
          </a:prstGeom>
          <a:solidFill>
            <a:srgbClr val="F1EAFF"/>
          </a:solidFill>
          <a:ln>
            <a:solidFill>
              <a:srgbClr val="D7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02952" y="2057400"/>
            <a:ext cx="1682496" cy="292608"/>
          </a:xfrm>
          <a:prstGeom prst="rect">
            <a:avLst/>
          </a:prstGeom>
          <a:noFill/>
        </p:spPr>
        <p:txBody>
          <a:bodyPr wrap="square" lIns="54864" tIns="54864" rIns="54864" bIns="54864" anchor="t">
            <a:spAutoFit/>
          </a:bodyPr>
          <a:lstStyle/>
          <a:p>
            <a:pPr algn="ctr"/>
            <a:r>
              <a:rPr sz="1400" b="1">
                <a:solidFill>
                  <a:srgbClr val="17234F"/>
                </a:solidFill>
                <a:latin typeface="Aptos"/>
              </a:rPr>
              <a:t>Split</a:t>
            </a:r>
          </a:p>
        </p:txBody>
      </p:sp>
      <p:sp>
        <p:nvSpPr>
          <p:cNvPr id="24" name="TextBox 23"/>
          <p:cNvSpPr txBox="1"/>
          <p:nvPr/>
        </p:nvSpPr>
        <p:spPr>
          <a:xfrm>
            <a:off x="9902952" y="2441448"/>
            <a:ext cx="1682496" cy="274320"/>
          </a:xfrm>
          <a:prstGeom prst="rect">
            <a:avLst/>
          </a:prstGeom>
          <a:noFill/>
        </p:spPr>
        <p:txBody>
          <a:bodyPr wrap="square" lIns="54864" tIns="54864" rIns="54864" bIns="54864" anchor="t">
            <a:spAutoFit/>
          </a:bodyPr>
          <a:lstStyle/>
          <a:p>
            <a:pPr algn="ctr"/>
            <a:r>
              <a:rPr sz="1100" b="0">
                <a:solidFill>
                  <a:srgbClr val="5D687D"/>
                </a:solidFill>
                <a:latin typeface="Aptos"/>
              </a:rPr>
              <a:t>Train / validation</a:t>
            </a:r>
          </a:p>
        </p:txBody>
      </p:sp>
      <p:sp>
        <p:nvSpPr>
          <p:cNvPr id="25" name="Rounded Rectangle 24"/>
          <p:cNvSpPr/>
          <p:nvPr/>
        </p:nvSpPr>
        <p:spPr>
          <a:xfrm>
            <a:off x="685800" y="3703320"/>
            <a:ext cx="5257800" cy="141732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 y="3813048"/>
            <a:ext cx="64008" cy="1197864"/>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3840480"/>
            <a:ext cx="4937760" cy="329184"/>
          </a:xfrm>
          <a:prstGeom prst="rect">
            <a:avLst/>
          </a:prstGeom>
          <a:noFill/>
        </p:spPr>
        <p:txBody>
          <a:bodyPr wrap="square" lIns="54864" tIns="54864" rIns="54864" bIns="54864" anchor="t">
            <a:spAutoFit/>
          </a:bodyPr>
          <a:lstStyle/>
          <a:p>
            <a:r>
              <a:rPr sz="1600" b="1">
                <a:solidFill>
                  <a:srgbClr val="17234F"/>
                </a:solidFill>
                <a:latin typeface="Aptos"/>
              </a:rPr>
              <a:t>Why resize and batch?</a:t>
            </a:r>
          </a:p>
        </p:txBody>
      </p:sp>
      <p:sp>
        <p:nvSpPr>
          <p:cNvPr id="28" name="TextBox 27"/>
          <p:cNvSpPr txBox="1"/>
          <p:nvPr/>
        </p:nvSpPr>
        <p:spPr>
          <a:xfrm>
            <a:off x="868680" y="4224528"/>
            <a:ext cx="4937760" cy="795528"/>
          </a:xfrm>
          <a:prstGeom prst="rect">
            <a:avLst/>
          </a:prstGeom>
          <a:noFill/>
        </p:spPr>
        <p:txBody>
          <a:bodyPr wrap="square" lIns="54864" tIns="54864" rIns="54864" bIns="54864" anchor="t">
            <a:spAutoFit/>
          </a:bodyPr>
          <a:lstStyle/>
          <a:p>
            <a:r>
              <a:rPr sz="1400" b="0" dirty="0">
                <a:solidFill>
                  <a:srgbClr val="232A3A"/>
                </a:solidFill>
                <a:latin typeface="Aptos"/>
              </a:rPr>
              <a:t>Fixed dimensions fit the model input; batches make training and inference manageable.</a:t>
            </a:r>
          </a:p>
        </p:txBody>
      </p:sp>
      <p:sp>
        <p:nvSpPr>
          <p:cNvPr id="29" name="Rounded Rectangle 28"/>
          <p:cNvSpPr/>
          <p:nvPr/>
        </p:nvSpPr>
        <p:spPr>
          <a:xfrm>
            <a:off x="6217920" y="3703320"/>
            <a:ext cx="5257800" cy="141732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17920" y="3813048"/>
            <a:ext cx="64008" cy="1197864"/>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840480"/>
            <a:ext cx="4937760" cy="329184"/>
          </a:xfrm>
          <a:prstGeom prst="rect">
            <a:avLst/>
          </a:prstGeom>
          <a:noFill/>
        </p:spPr>
        <p:txBody>
          <a:bodyPr wrap="square" lIns="54864" tIns="54864" rIns="54864" bIns="54864" anchor="t">
            <a:spAutoFit/>
          </a:bodyPr>
          <a:lstStyle/>
          <a:p>
            <a:r>
              <a:rPr sz="1600" b="1">
                <a:solidFill>
                  <a:srgbClr val="17234F"/>
                </a:solidFill>
                <a:latin typeface="Aptos"/>
              </a:rPr>
              <a:t>Why split the data?</a:t>
            </a:r>
          </a:p>
        </p:txBody>
      </p:sp>
      <p:sp>
        <p:nvSpPr>
          <p:cNvPr id="32" name="TextBox 31"/>
          <p:cNvSpPr txBox="1"/>
          <p:nvPr/>
        </p:nvSpPr>
        <p:spPr>
          <a:xfrm>
            <a:off x="6400800" y="4224528"/>
            <a:ext cx="4937760" cy="795528"/>
          </a:xfrm>
          <a:prstGeom prst="rect">
            <a:avLst/>
          </a:prstGeom>
          <a:noFill/>
        </p:spPr>
        <p:txBody>
          <a:bodyPr wrap="square" lIns="54864" tIns="54864" rIns="54864" bIns="54864" anchor="t">
            <a:spAutoFit/>
          </a:bodyPr>
          <a:lstStyle/>
          <a:p>
            <a:r>
              <a:rPr sz="1400" b="0">
                <a:solidFill>
                  <a:srgbClr val="232A3A"/>
                </a:solidFill>
                <a:latin typeface="Aptos"/>
              </a:rPr>
              <a:t>Training updates model weights; validation checks performance on held-out examples.</a:t>
            </a:r>
          </a:p>
        </p:txBody>
      </p:sp>
      <p:sp>
        <p:nvSpPr>
          <p:cNvPr id="33" name="TextBox 32"/>
          <p:cNvSpPr txBox="1"/>
          <p:nvPr/>
        </p:nvSpPr>
        <p:spPr>
          <a:xfrm>
            <a:off x="914400" y="5577840"/>
            <a:ext cx="10424160" cy="457200"/>
          </a:xfrm>
          <a:prstGeom prst="rect">
            <a:avLst/>
          </a:prstGeom>
          <a:noFill/>
        </p:spPr>
        <p:txBody>
          <a:bodyPr wrap="square" lIns="54864" tIns="54864" rIns="54864" bIns="54864" anchor="t">
            <a:spAutoFit/>
          </a:bodyPr>
          <a:lstStyle/>
          <a:p>
            <a:pPr algn="ctr"/>
            <a:r>
              <a:rPr sz="1100" b="0">
                <a:solidFill>
                  <a:srgbClr val="5D687D"/>
                </a:solidFill>
                <a:latin typeface="Aptos"/>
              </a:rPr>
              <a:t>Project note: one recorded loader run contained 12,902 images (10,322 train / 2,580 validation). Verify these counts against the final dataset before presenting.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How deep learning analyzes an image</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CNNs learn useful patterns from pixels during training.</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07</a:t>
            </a:r>
          </a:p>
        </p:txBody>
      </p:sp>
      <p:sp>
        <p:nvSpPr>
          <p:cNvPr id="6" name="Rounded Rectangle 5"/>
          <p:cNvSpPr/>
          <p:nvPr/>
        </p:nvSpPr>
        <p:spPr>
          <a:xfrm>
            <a:off x="731520" y="2057400"/>
            <a:ext cx="1920240" cy="1325880"/>
          </a:xfrm>
          <a:prstGeom prst="roundRect">
            <a:avLst/>
          </a:prstGeom>
          <a:solidFill>
            <a:srgbClr val="E6EEF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23160"/>
            <a:ext cx="1737360" cy="548640"/>
          </a:xfrm>
          <a:prstGeom prst="rect">
            <a:avLst/>
          </a:prstGeom>
          <a:noFill/>
        </p:spPr>
        <p:txBody>
          <a:bodyPr wrap="square" lIns="54864" tIns="54864" rIns="54864" bIns="54864" anchor="ctr">
            <a:spAutoFit/>
          </a:bodyPr>
          <a:lstStyle/>
          <a:p>
            <a:pPr algn="ctr"/>
            <a:r>
              <a:rPr sz="1500" b="1">
                <a:solidFill>
                  <a:srgbClr val="17234F"/>
                </a:solidFill>
                <a:latin typeface="Aptos"/>
              </a:rPr>
              <a:t>Input
pixels</a:t>
            </a:r>
          </a:p>
        </p:txBody>
      </p:sp>
      <p:sp>
        <p:nvSpPr>
          <p:cNvPr id="8" name="Rounded Rectangle 7"/>
          <p:cNvSpPr/>
          <p:nvPr/>
        </p:nvSpPr>
        <p:spPr>
          <a:xfrm>
            <a:off x="3063240" y="2057400"/>
            <a:ext cx="1920240" cy="1325880"/>
          </a:xfrm>
          <a:prstGeom prst="roundRect">
            <a:avLst/>
          </a:prstGeom>
          <a:solidFill>
            <a:srgbClr val="F1EAF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154680" y="2423160"/>
            <a:ext cx="1737360" cy="548640"/>
          </a:xfrm>
          <a:prstGeom prst="rect">
            <a:avLst/>
          </a:prstGeom>
          <a:noFill/>
        </p:spPr>
        <p:txBody>
          <a:bodyPr wrap="square" lIns="54864" tIns="54864" rIns="54864" bIns="54864" anchor="ctr">
            <a:spAutoFit/>
          </a:bodyPr>
          <a:lstStyle/>
          <a:p>
            <a:pPr algn="ctr"/>
            <a:r>
              <a:rPr sz="1500" b="1">
                <a:solidFill>
                  <a:srgbClr val="17234F"/>
                </a:solidFill>
                <a:latin typeface="Aptos"/>
              </a:rPr>
              <a:t>Early features
edges / texture</a:t>
            </a:r>
          </a:p>
        </p:txBody>
      </p:sp>
      <p:sp>
        <p:nvSpPr>
          <p:cNvPr id="10" name="Rounded Rectangle 9"/>
          <p:cNvSpPr/>
          <p:nvPr/>
        </p:nvSpPr>
        <p:spPr>
          <a:xfrm>
            <a:off x="5394960" y="2057400"/>
            <a:ext cx="1920240" cy="1325880"/>
          </a:xfrm>
          <a:prstGeom prst="roundRect">
            <a:avLst/>
          </a:prstGeom>
          <a:solidFill>
            <a:srgbClr val="E6EEF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0" y="2423160"/>
            <a:ext cx="1737360" cy="548640"/>
          </a:xfrm>
          <a:prstGeom prst="rect">
            <a:avLst/>
          </a:prstGeom>
          <a:noFill/>
        </p:spPr>
        <p:txBody>
          <a:bodyPr wrap="square" lIns="54864" tIns="54864" rIns="54864" bIns="54864" anchor="ctr">
            <a:spAutoFit/>
          </a:bodyPr>
          <a:lstStyle/>
          <a:p>
            <a:pPr algn="ctr"/>
            <a:r>
              <a:rPr sz="1500" b="1">
                <a:solidFill>
                  <a:srgbClr val="17234F"/>
                </a:solidFill>
                <a:latin typeface="Aptos"/>
              </a:rPr>
              <a:t>Deeper features
shapes / patterns</a:t>
            </a:r>
          </a:p>
        </p:txBody>
      </p:sp>
      <p:sp>
        <p:nvSpPr>
          <p:cNvPr id="12" name="Rounded Rectangle 11"/>
          <p:cNvSpPr/>
          <p:nvPr/>
        </p:nvSpPr>
        <p:spPr>
          <a:xfrm>
            <a:off x="7726679" y="2057400"/>
            <a:ext cx="1554480" cy="1325880"/>
          </a:xfrm>
          <a:prstGeom prst="roundRect">
            <a:avLst/>
          </a:prstGeom>
          <a:solidFill>
            <a:srgbClr val="F1EAF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18119" y="2423160"/>
            <a:ext cx="1371600" cy="548640"/>
          </a:xfrm>
          <a:prstGeom prst="rect">
            <a:avLst/>
          </a:prstGeom>
          <a:noFill/>
        </p:spPr>
        <p:txBody>
          <a:bodyPr wrap="square" lIns="54864" tIns="54864" rIns="54864" bIns="54864" anchor="ctr">
            <a:spAutoFit/>
          </a:bodyPr>
          <a:lstStyle/>
          <a:p>
            <a:pPr algn="ctr"/>
            <a:r>
              <a:rPr sz="1500" b="1">
                <a:solidFill>
                  <a:srgbClr val="17234F"/>
                </a:solidFill>
                <a:latin typeface="Aptos"/>
              </a:rPr>
              <a:t>Feature
representation</a:t>
            </a:r>
          </a:p>
        </p:txBody>
      </p:sp>
      <p:sp>
        <p:nvSpPr>
          <p:cNvPr id="14" name="Rounded Rectangle 13"/>
          <p:cNvSpPr/>
          <p:nvPr/>
        </p:nvSpPr>
        <p:spPr>
          <a:xfrm>
            <a:off x="9692640" y="2057400"/>
            <a:ext cx="1737360" cy="1325880"/>
          </a:xfrm>
          <a:prstGeom prst="roundRect">
            <a:avLst/>
          </a:prstGeom>
          <a:solidFill>
            <a:srgbClr val="DFF6E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0" y="2423160"/>
            <a:ext cx="1554480" cy="548640"/>
          </a:xfrm>
          <a:prstGeom prst="rect">
            <a:avLst/>
          </a:prstGeom>
          <a:noFill/>
        </p:spPr>
        <p:txBody>
          <a:bodyPr wrap="square" lIns="54864" tIns="54864" rIns="54864" bIns="54864" anchor="ctr">
            <a:spAutoFit/>
          </a:bodyPr>
          <a:lstStyle/>
          <a:p>
            <a:pPr algn="ctr"/>
            <a:r>
              <a:rPr sz="1500" b="1">
                <a:solidFill>
                  <a:srgbClr val="17234F"/>
                </a:solidFill>
                <a:latin typeface="Aptos"/>
              </a:rPr>
              <a:t>Classifier
REAL / FAKE</a:t>
            </a:r>
          </a:p>
        </p:txBody>
      </p:sp>
      <p:cxnSp>
        <p:nvCxnSpPr>
          <p:cNvPr id="16" name="Connector 15"/>
          <p:cNvCxnSpPr/>
          <p:nvPr/>
        </p:nvCxnSpPr>
        <p:spPr>
          <a:xfrm>
            <a:off x="2697480" y="2724912"/>
            <a:ext cx="292608" cy="0"/>
          </a:xfrm>
          <a:prstGeom prst="line">
            <a:avLst/>
          </a:prstGeom>
          <a:ln w="19050">
            <a:solidFill>
              <a:srgbClr val="3563E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029200" y="2724912"/>
            <a:ext cx="292608" cy="0"/>
          </a:xfrm>
          <a:prstGeom prst="line">
            <a:avLst/>
          </a:prstGeom>
          <a:ln w="19050">
            <a:solidFill>
              <a:srgbClr val="3563E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360920" y="2724912"/>
            <a:ext cx="292607" cy="0"/>
          </a:xfrm>
          <a:prstGeom prst="line">
            <a:avLst/>
          </a:prstGeom>
          <a:ln w="19050">
            <a:solidFill>
              <a:srgbClr val="3563E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326880" y="2724912"/>
            <a:ext cx="292608" cy="0"/>
          </a:xfrm>
          <a:prstGeom prst="line">
            <a:avLst/>
          </a:prstGeom>
          <a:ln w="19050">
            <a:solidFill>
              <a:srgbClr val="3563E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60120" y="4160520"/>
            <a:ext cx="4800600" cy="11430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60120" y="4270248"/>
            <a:ext cx="64008" cy="923544"/>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3000" y="4297680"/>
            <a:ext cx="4480560" cy="329184"/>
          </a:xfrm>
          <a:prstGeom prst="rect">
            <a:avLst/>
          </a:prstGeom>
          <a:noFill/>
        </p:spPr>
        <p:txBody>
          <a:bodyPr wrap="square" lIns="54864" tIns="54864" rIns="54864" bIns="54864" anchor="t">
            <a:spAutoFit/>
          </a:bodyPr>
          <a:lstStyle/>
          <a:p>
            <a:r>
              <a:rPr sz="1600" b="1">
                <a:solidFill>
                  <a:srgbClr val="17234F"/>
                </a:solidFill>
                <a:latin typeface="Aptos"/>
              </a:rPr>
              <a:t>Training</a:t>
            </a:r>
          </a:p>
        </p:txBody>
      </p:sp>
      <p:sp>
        <p:nvSpPr>
          <p:cNvPr id="23" name="TextBox 22"/>
          <p:cNvSpPr txBox="1"/>
          <p:nvPr/>
        </p:nvSpPr>
        <p:spPr>
          <a:xfrm>
            <a:off x="1143000" y="4681728"/>
            <a:ext cx="4480560" cy="521207"/>
          </a:xfrm>
          <a:prstGeom prst="rect">
            <a:avLst/>
          </a:prstGeom>
          <a:noFill/>
        </p:spPr>
        <p:txBody>
          <a:bodyPr wrap="square" lIns="54864" tIns="54864" rIns="54864" bIns="54864" anchor="t">
            <a:spAutoFit/>
          </a:bodyPr>
          <a:lstStyle/>
          <a:p>
            <a:r>
              <a:rPr sz="1400" b="0">
                <a:solidFill>
                  <a:srgbClr val="232A3A"/>
                </a:solidFill>
                <a:latin typeface="Aptos"/>
              </a:rPr>
              <a:t>The model adjusts weights to reduce prediction error on labelled examples.</a:t>
            </a:r>
          </a:p>
        </p:txBody>
      </p:sp>
      <p:sp>
        <p:nvSpPr>
          <p:cNvPr id="24" name="Rounded Rectangle 23"/>
          <p:cNvSpPr/>
          <p:nvPr/>
        </p:nvSpPr>
        <p:spPr>
          <a:xfrm>
            <a:off x="6400800" y="4160520"/>
            <a:ext cx="4800600" cy="11430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0" y="4270248"/>
            <a:ext cx="64008" cy="923544"/>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0" y="4297680"/>
            <a:ext cx="4480560" cy="329184"/>
          </a:xfrm>
          <a:prstGeom prst="rect">
            <a:avLst/>
          </a:prstGeom>
          <a:noFill/>
        </p:spPr>
        <p:txBody>
          <a:bodyPr wrap="square" lIns="54864" tIns="54864" rIns="54864" bIns="54864" anchor="t">
            <a:spAutoFit/>
          </a:bodyPr>
          <a:lstStyle/>
          <a:p>
            <a:r>
              <a:rPr sz="1600" b="1">
                <a:solidFill>
                  <a:srgbClr val="17234F"/>
                </a:solidFill>
                <a:latin typeface="Aptos"/>
              </a:rPr>
              <a:t>Inference</a:t>
            </a:r>
          </a:p>
        </p:txBody>
      </p:sp>
      <p:sp>
        <p:nvSpPr>
          <p:cNvPr id="27" name="TextBox 26"/>
          <p:cNvSpPr txBox="1"/>
          <p:nvPr/>
        </p:nvSpPr>
        <p:spPr>
          <a:xfrm>
            <a:off x="6583680" y="4681728"/>
            <a:ext cx="4480560" cy="521207"/>
          </a:xfrm>
          <a:prstGeom prst="rect">
            <a:avLst/>
          </a:prstGeom>
          <a:noFill/>
        </p:spPr>
        <p:txBody>
          <a:bodyPr wrap="square" lIns="54864" tIns="54864" rIns="54864" bIns="54864" anchor="t">
            <a:spAutoFit/>
          </a:bodyPr>
          <a:lstStyle/>
          <a:p>
            <a:r>
              <a:rPr sz="1400" b="0">
                <a:solidFill>
                  <a:srgbClr val="232A3A"/>
                </a:solidFill>
                <a:latin typeface="Aptos"/>
              </a:rPr>
              <a:t>A new image passes through the trained network to generate a prediction.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Why EfficientNetB0?</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A compact CNN architecture commonly used for image classification.</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08</a:t>
            </a:r>
          </a:p>
        </p:txBody>
      </p:sp>
      <p:sp>
        <p:nvSpPr>
          <p:cNvPr id="6" name="Rounded Rectangle 5"/>
          <p:cNvSpPr/>
          <p:nvPr/>
        </p:nvSpPr>
        <p:spPr>
          <a:xfrm>
            <a:off x="685800" y="1554480"/>
            <a:ext cx="3474720" cy="1874519"/>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664207"/>
            <a:ext cx="64008" cy="1655063"/>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691639"/>
            <a:ext cx="3154679" cy="329184"/>
          </a:xfrm>
          <a:prstGeom prst="rect">
            <a:avLst/>
          </a:prstGeom>
          <a:noFill/>
        </p:spPr>
        <p:txBody>
          <a:bodyPr wrap="square" lIns="54864" tIns="54864" rIns="54864" bIns="54864" anchor="t">
            <a:spAutoFit/>
          </a:bodyPr>
          <a:lstStyle/>
          <a:p>
            <a:r>
              <a:rPr sz="1600" b="1">
                <a:solidFill>
                  <a:srgbClr val="17234F"/>
                </a:solidFill>
                <a:latin typeface="Aptos"/>
              </a:rPr>
              <a:t>Transfer learning</a:t>
            </a:r>
          </a:p>
        </p:txBody>
      </p:sp>
      <p:sp>
        <p:nvSpPr>
          <p:cNvPr id="9" name="TextBox 8"/>
          <p:cNvSpPr txBox="1"/>
          <p:nvPr/>
        </p:nvSpPr>
        <p:spPr>
          <a:xfrm>
            <a:off x="868680" y="2075688"/>
            <a:ext cx="3154679" cy="1252727"/>
          </a:xfrm>
          <a:prstGeom prst="rect">
            <a:avLst/>
          </a:prstGeom>
          <a:noFill/>
        </p:spPr>
        <p:txBody>
          <a:bodyPr wrap="square" lIns="54864" tIns="54864" rIns="54864" bIns="54864" anchor="t">
            <a:spAutoFit/>
          </a:bodyPr>
          <a:lstStyle/>
          <a:p>
            <a:r>
              <a:rPr sz="1500" b="0">
                <a:solidFill>
                  <a:srgbClr val="232A3A"/>
                </a:solidFill>
                <a:latin typeface="Aptos"/>
              </a:rPr>
              <a:t>Start from features learned on a large image dataset, if pretrained weights are used.</a:t>
            </a:r>
          </a:p>
        </p:txBody>
      </p:sp>
      <p:sp>
        <p:nvSpPr>
          <p:cNvPr id="10" name="Rounded Rectangle 9"/>
          <p:cNvSpPr/>
          <p:nvPr/>
        </p:nvSpPr>
        <p:spPr>
          <a:xfrm>
            <a:off x="4370832" y="1554480"/>
            <a:ext cx="3474720" cy="1874519"/>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0832" y="1664207"/>
            <a:ext cx="64008" cy="1655063"/>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53712" y="1691639"/>
            <a:ext cx="3154679" cy="329184"/>
          </a:xfrm>
          <a:prstGeom prst="rect">
            <a:avLst/>
          </a:prstGeom>
          <a:noFill/>
        </p:spPr>
        <p:txBody>
          <a:bodyPr wrap="square" lIns="54864" tIns="54864" rIns="54864" bIns="54864" anchor="t">
            <a:spAutoFit/>
          </a:bodyPr>
          <a:lstStyle/>
          <a:p>
            <a:r>
              <a:rPr sz="1600" b="1">
                <a:solidFill>
                  <a:srgbClr val="17234F"/>
                </a:solidFill>
                <a:latin typeface="Aptos"/>
              </a:rPr>
              <a:t>Efficiency</a:t>
            </a:r>
          </a:p>
        </p:txBody>
      </p:sp>
      <p:sp>
        <p:nvSpPr>
          <p:cNvPr id="13" name="TextBox 12"/>
          <p:cNvSpPr txBox="1"/>
          <p:nvPr/>
        </p:nvSpPr>
        <p:spPr>
          <a:xfrm>
            <a:off x="4553712" y="2075688"/>
            <a:ext cx="3154679" cy="1252727"/>
          </a:xfrm>
          <a:prstGeom prst="rect">
            <a:avLst/>
          </a:prstGeom>
          <a:noFill/>
        </p:spPr>
        <p:txBody>
          <a:bodyPr wrap="square" lIns="54864" tIns="54864" rIns="54864" bIns="54864" anchor="t">
            <a:spAutoFit/>
          </a:bodyPr>
          <a:lstStyle/>
          <a:p>
            <a:r>
              <a:rPr sz="1500" b="0">
                <a:solidFill>
                  <a:srgbClr val="232A3A"/>
                </a:solidFill>
                <a:latin typeface="Aptos"/>
              </a:rPr>
              <a:t>EfficientNet scales network depth, width, and input resolution in a balanced way.</a:t>
            </a:r>
          </a:p>
        </p:txBody>
      </p:sp>
      <p:sp>
        <p:nvSpPr>
          <p:cNvPr id="14" name="Rounded Rectangle 13"/>
          <p:cNvSpPr/>
          <p:nvPr/>
        </p:nvSpPr>
        <p:spPr>
          <a:xfrm>
            <a:off x="8046720" y="1554480"/>
            <a:ext cx="3474720" cy="1874519"/>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664207"/>
            <a:ext cx="64008" cy="1655063"/>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691639"/>
            <a:ext cx="3154679" cy="329184"/>
          </a:xfrm>
          <a:prstGeom prst="rect">
            <a:avLst/>
          </a:prstGeom>
          <a:noFill/>
        </p:spPr>
        <p:txBody>
          <a:bodyPr wrap="square" lIns="54864" tIns="54864" rIns="54864" bIns="54864" anchor="t">
            <a:spAutoFit/>
          </a:bodyPr>
          <a:lstStyle/>
          <a:p>
            <a:r>
              <a:rPr sz="1600" b="1">
                <a:solidFill>
                  <a:srgbClr val="17234F"/>
                </a:solidFill>
                <a:latin typeface="Aptos"/>
              </a:rPr>
              <a:t>Adaptation</a:t>
            </a:r>
          </a:p>
        </p:txBody>
      </p:sp>
      <p:sp>
        <p:nvSpPr>
          <p:cNvPr id="17" name="TextBox 16"/>
          <p:cNvSpPr txBox="1"/>
          <p:nvPr/>
        </p:nvSpPr>
        <p:spPr>
          <a:xfrm>
            <a:off x="8229600" y="2075688"/>
            <a:ext cx="3154679" cy="1252727"/>
          </a:xfrm>
          <a:prstGeom prst="rect">
            <a:avLst/>
          </a:prstGeom>
          <a:noFill/>
        </p:spPr>
        <p:txBody>
          <a:bodyPr wrap="square" lIns="54864" tIns="54864" rIns="54864" bIns="54864" anchor="t">
            <a:spAutoFit/>
          </a:bodyPr>
          <a:lstStyle/>
          <a:p>
            <a:r>
              <a:rPr sz="1500" b="0">
                <a:solidFill>
                  <a:srgbClr val="232A3A"/>
                </a:solidFill>
                <a:latin typeface="Aptos"/>
              </a:rPr>
              <a:t>A task-specific classification head can adapt features to REAL/FAKE labels.</a:t>
            </a:r>
          </a:p>
        </p:txBody>
      </p:sp>
      <p:sp>
        <p:nvSpPr>
          <p:cNvPr id="18" name="TextBox 17"/>
          <p:cNvSpPr txBox="1"/>
          <p:nvPr/>
        </p:nvSpPr>
        <p:spPr>
          <a:xfrm>
            <a:off x="914400" y="4069080"/>
            <a:ext cx="10241280" cy="502920"/>
          </a:xfrm>
          <a:prstGeom prst="rect">
            <a:avLst/>
          </a:prstGeom>
          <a:noFill/>
        </p:spPr>
        <p:txBody>
          <a:bodyPr wrap="square" lIns="54864" tIns="54864" rIns="54864" bIns="54864" anchor="t">
            <a:spAutoFit/>
          </a:bodyPr>
          <a:lstStyle/>
          <a:p>
            <a:pPr algn="ctr"/>
            <a:r>
              <a:rPr sz="1900" b="1">
                <a:solidFill>
                  <a:srgbClr val="17234F"/>
                </a:solidFill>
                <a:latin typeface="Aptos"/>
              </a:rPr>
              <a:t>Pretrained features  →  project-specific training  →  image-level prediction</a:t>
            </a:r>
          </a:p>
        </p:txBody>
      </p:sp>
      <p:sp>
        <p:nvSpPr>
          <p:cNvPr id="19" name="TextBox 18"/>
          <p:cNvSpPr txBox="1"/>
          <p:nvPr/>
        </p:nvSpPr>
        <p:spPr>
          <a:xfrm>
            <a:off x="1051560" y="4983480"/>
            <a:ext cx="10058400" cy="640080"/>
          </a:xfrm>
          <a:prstGeom prst="rect">
            <a:avLst/>
          </a:prstGeom>
          <a:noFill/>
        </p:spPr>
        <p:txBody>
          <a:bodyPr wrap="square" lIns="54864" tIns="54864" rIns="54864" bIns="54864" anchor="t">
            <a:spAutoFit/>
          </a:bodyPr>
          <a:lstStyle/>
          <a:p>
            <a:pPr algn="ctr"/>
            <a:r>
              <a:rPr sz="1300" b="0" dirty="0">
                <a:solidFill>
                  <a:srgbClr val="5D687D"/>
                </a:solidFill>
                <a:latin typeface="Aptos"/>
              </a:rPr>
              <a:t>The exact layers, frozen/unfrozen blocks, and output activation must match the final model code.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Proposed model architecture</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Conceptual pipeline—confirm the classifier head and preprocessing against the saved model.</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09</a:t>
            </a:r>
          </a:p>
        </p:txBody>
      </p:sp>
      <p:sp>
        <p:nvSpPr>
          <p:cNvPr id="6" name="Rounded Rectangle 5"/>
          <p:cNvSpPr/>
          <p:nvPr/>
        </p:nvSpPr>
        <p:spPr>
          <a:xfrm>
            <a:off x="502920" y="1920240"/>
            <a:ext cx="1828800" cy="1325880"/>
          </a:xfrm>
          <a:prstGeom prst="roundRect">
            <a:avLst/>
          </a:prstGeom>
          <a:solidFill>
            <a:srgbClr val="E6EEF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72" y="2148840"/>
            <a:ext cx="1682496" cy="384048"/>
          </a:xfrm>
          <a:prstGeom prst="rect">
            <a:avLst/>
          </a:prstGeom>
          <a:noFill/>
        </p:spPr>
        <p:txBody>
          <a:bodyPr wrap="square" lIns="54864" tIns="54864" rIns="54864" bIns="54864" anchor="t">
            <a:spAutoFit/>
          </a:bodyPr>
          <a:lstStyle/>
          <a:p>
            <a:pPr algn="ctr"/>
            <a:r>
              <a:rPr sz="1400" b="1">
                <a:solidFill>
                  <a:srgbClr val="17234F"/>
                </a:solidFill>
                <a:latin typeface="Aptos"/>
              </a:rPr>
              <a:t>Uploaded image</a:t>
            </a:r>
          </a:p>
        </p:txBody>
      </p:sp>
      <p:sp>
        <p:nvSpPr>
          <p:cNvPr id="8" name="TextBox 7"/>
          <p:cNvSpPr txBox="1"/>
          <p:nvPr/>
        </p:nvSpPr>
        <p:spPr>
          <a:xfrm>
            <a:off x="576072" y="2633472"/>
            <a:ext cx="1682496" cy="411480"/>
          </a:xfrm>
          <a:prstGeom prst="rect">
            <a:avLst/>
          </a:prstGeom>
          <a:noFill/>
        </p:spPr>
        <p:txBody>
          <a:bodyPr wrap="square" lIns="54864" tIns="54864" rIns="54864" bIns="54864" anchor="t">
            <a:spAutoFit/>
          </a:bodyPr>
          <a:lstStyle/>
          <a:p>
            <a:pPr algn="ctr"/>
            <a:r>
              <a:rPr sz="1000" b="0">
                <a:solidFill>
                  <a:srgbClr val="5D687D"/>
                </a:solidFill>
                <a:latin typeface="Aptos"/>
              </a:rPr>
              <a:t>JPG / PNG</a:t>
            </a:r>
          </a:p>
        </p:txBody>
      </p:sp>
      <p:sp>
        <p:nvSpPr>
          <p:cNvPr id="9" name="Rounded Rectangle 8"/>
          <p:cNvSpPr/>
          <p:nvPr/>
        </p:nvSpPr>
        <p:spPr>
          <a:xfrm>
            <a:off x="2697480" y="1920240"/>
            <a:ext cx="1828800" cy="1325880"/>
          </a:xfrm>
          <a:prstGeom prst="roundRect">
            <a:avLst/>
          </a:prstGeom>
          <a:solidFill>
            <a:srgbClr val="F1EAF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70632" y="2148840"/>
            <a:ext cx="1682496" cy="384048"/>
          </a:xfrm>
          <a:prstGeom prst="rect">
            <a:avLst/>
          </a:prstGeom>
          <a:noFill/>
        </p:spPr>
        <p:txBody>
          <a:bodyPr wrap="square" lIns="54864" tIns="54864" rIns="54864" bIns="54864" anchor="t">
            <a:spAutoFit/>
          </a:bodyPr>
          <a:lstStyle/>
          <a:p>
            <a:pPr algn="ctr"/>
            <a:r>
              <a:rPr sz="1400" b="1">
                <a:solidFill>
                  <a:srgbClr val="17234F"/>
                </a:solidFill>
                <a:latin typeface="Aptos"/>
              </a:rPr>
              <a:t>Preprocessing</a:t>
            </a:r>
          </a:p>
        </p:txBody>
      </p:sp>
      <p:sp>
        <p:nvSpPr>
          <p:cNvPr id="11" name="TextBox 10"/>
          <p:cNvSpPr txBox="1"/>
          <p:nvPr/>
        </p:nvSpPr>
        <p:spPr>
          <a:xfrm>
            <a:off x="2770632" y="2633472"/>
            <a:ext cx="1682496" cy="411480"/>
          </a:xfrm>
          <a:prstGeom prst="rect">
            <a:avLst/>
          </a:prstGeom>
          <a:noFill/>
        </p:spPr>
        <p:txBody>
          <a:bodyPr wrap="square" lIns="54864" tIns="54864" rIns="54864" bIns="54864" anchor="t">
            <a:spAutoFit/>
          </a:bodyPr>
          <a:lstStyle/>
          <a:p>
            <a:pPr algn="ctr"/>
            <a:r>
              <a:rPr sz="1000" b="0">
                <a:solidFill>
                  <a:srgbClr val="5D687D"/>
                </a:solidFill>
                <a:latin typeface="Aptos"/>
              </a:rPr>
              <a:t>Resize + model-specific input prep</a:t>
            </a:r>
          </a:p>
        </p:txBody>
      </p:sp>
      <p:sp>
        <p:nvSpPr>
          <p:cNvPr id="12" name="Rounded Rectangle 11"/>
          <p:cNvSpPr/>
          <p:nvPr/>
        </p:nvSpPr>
        <p:spPr>
          <a:xfrm>
            <a:off x="4892040" y="1920240"/>
            <a:ext cx="2148840" cy="1325880"/>
          </a:xfrm>
          <a:prstGeom prst="roundRect">
            <a:avLst/>
          </a:prstGeom>
          <a:solidFill>
            <a:srgbClr val="E6EEF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65192" y="2148840"/>
            <a:ext cx="2002536" cy="384048"/>
          </a:xfrm>
          <a:prstGeom prst="rect">
            <a:avLst/>
          </a:prstGeom>
          <a:noFill/>
        </p:spPr>
        <p:txBody>
          <a:bodyPr wrap="square" lIns="54864" tIns="54864" rIns="54864" bIns="54864" anchor="t">
            <a:spAutoFit/>
          </a:bodyPr>
          <a:lstStyle/>
          <a:p>
            <a:pPr algn="ctr"/>
            <a:r>
              <a:rPr sz="1400" b="1">
                <a:solidFill>
                  <a:srgbClr val="17234F"/>
                </a:solidFill>
                <a:latin typeface="Aptos"/>
              </a:rPr>
              <a:t>EfficientNetB0</a:t>
            </a:r>
          </a:p>
        </p:txBody>
      </p:sp>
      <p:sp>
        <p:nvSpPr>
          <p:cNvPr id="14" name="TextBox 13"/>
          <p:cNvSpPr txBox="1"/>
          <p:nvPr/>
        </p:nvSpPr>
        <p:spPr>
          <a:xfrm>
            <a:off x="4965192" y="2633472"/>
            <a:ext cx="2002536" cy="411480"/>
          </a:xfrm>
          <a:prstGeom prst="rect">
            <a:avLst/>
          </a:prstGeom>
          <a:noFill/>
        </p:spPr>
        <p:txBody>
          <a:bodyPr wrap="square" lIns="54864" tIns="54864" rIns="54864" bIns="54864" anchor="t">
            <a:spAutoFit/>
          </a:bodyPr>
          <a:lstStyle/>
          <a:p>
            <a:pPr algn="ctr"/>
            <a:r>
              <a:rPr sz="1000" b="0">
                <a:solidFill>
                  <a:srgbClr val="5D687D"/>
                </a:solidFill>
                <a:latin typeface="Aptos"/>
              </a:rPr>
              <a:t>Convolutional feature extractor</a:t>
            </a:r>
          </a:p>
        </p:txBody>
      </p:sp>
      <p:sp>
        <p:nvSpPr>
          <p:cNvPr id="15" name="Rounded Rectangle 14"/>
          <p:cNvSpPr/>
          <p:nvPr/>
        </p:nvSpPr>
        <p:spPr>
          <a:xfrm>
            <a:off x="7406640" y="1920240"/>
            <a:ext cx="1828800" cy="1325880"/>
          </a:xfrm>
          <a:prstGeom prst="roundRect">
            <a:avLst/>
          </a:prstGeom>
          <a:solidFill>
            <a:srgbClr val="F1EAF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79792" y="2148840"/>
            <a:ext cx="1682496" cy="384048"/>
          </a:xfrm>
          <a:prstGeom prst="rect">
            <a:avLst/>
          </a:prstGeom>
          <a:noFill/>
        </p:spPr>
        <p:txBody>
          <a:bodyPr wrap="square" lIns="54864" tIns="54864" rIns="54864" bIns="54864" anchor="t">
            <a:spAutoFit/>
          </a:bodyPr>
          <a:lstStyle/>
          <a:p>
            <a:pPr algn="ctr"/>
            <a:r>
              <a:rPr sz="1400" b="1">
                <a:solidFill>
                  <a:srgbClr val="17234F"/>
                </a:solidFill>
                <a:latin typeface="Aptos"/>
              </a:rPr>
              <a:t>Classification head</a:t>
            </a:r>
          </a:p>
        </p:txBody>
      </p:sp>
      <p:sp>
        <p:nvSpPr>
          <p:cNvPr id="17" name="TextBox 16"/>
          <p:cNvSpPr txBox="1"/>
          <p:nvPr/>
        </p:nvSpPr>
        <p:spPr>
          <a:xfrm>
            <a:off x="7479792" y="2633472"/>
            <a:ext cx="1682496" cy="411480"/>
          </a:xfrm>
          <a:prstGeom prst="rect">
            <a:avLst/>
          </a:prstGeom>
          <a:noFill/>
        </p:spPr>
        <p:txBody>
          <a:bodyPr wrap="square" lIns="54864" tIns="54864" rIns="54864" bIns="54864" anchor="t">
            <a:spAutoFit/>
          </a:bodyPr>
          <a:lstStyle/>
          <a:p>
            <a:pPr algn="ctr"/>
            <a:r>
              <a:rPr sz="1000" b="0">
                <a:solidFill>
                  <a:srgbClr val="5D687D"/>
                </a:solidFill>
                <a:latin typeface="Aptos"/>
              </a:rPr>
              <a:t>Task-specific layers</a:t>
            </a:r>
          </a:p>
        </p:txBody>
      </p:sp>
      <p:sp>
        <p:nvSpPr>
          <p:cNvPr id="18" name="Rounded Rectangle 17"/>
          <p:cNvSpPr/>
          <p:nvPr/>
        </p:nvSpPr>
        <p:spPr>
          <a:xfrm>
            <a:off x="9601200" y="1920240"/>
            <a:ext cx="2057400" cy="1325880"/>
          </a:xfrm>
          <a:prstGeom prst="roundRect">
            <a:avLst/>
          </a:prstGeom>
          <a:solidFill>
            <a:srgbClr val="DFF6EF"/>
          </a:solidFill>
          <a:ln>
            <a:solidFill>
              <a:srgbClr val="D4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74352" y="2148840"/>
            <a:ext cx="1911095" cy="384048"/>
          </a:xfrm>
          <a:prstGeom prst="rect">
            <a:avLst/>
          </a:prstGeom>
          <a:noFill/>
        </p:spPr>
        <p:txBody>
          <a:bodyPr wrap="square" lIns="54864" tIns="54864" rIns="54864" bIns="54864" anchor="t">
            <a:spAutoFit/>
          </a:bodyPr>
          <a:lstStyle/>
          <a:p>
            <a:pPr algn="ctr"/>
            <a:r>
              <a:rPr sz="1400" b="1">
                <a:solidFill>
                  <a:srgbClr val="17234F"/>
                </a:solidFill>
                <a:latin typeface="Aptos"/>
              </a:rPr>
              <a:t>Prediction</a:t>
            </a:r>
          </a:p>
        </p:txBody>
      </p:sp>
      <p:sp>
        <p:nvSpPr>
          <p:cNvPr id="20" name="TextBox 19"/>
          <p:cNvSpPr txBox="1"/>
          <p:nvPr/>
        </p:nvSpPr>
        <p:spPr>
          <a:xfrm>
            <a:off x="9674352" y="2633472"/>
            <a:ext cx="1911095" cy="411480"/>
          </a:xfrm>
          <a:prstGeom prst="rect">
            <a:avLst/>
          </a:prstGeom>
          <a:noFill/>
        </p:spPr>
        <p:txBody>
          <a:bodyPr wrap="square" lIns="54864" tIns="54864" rIns="54864" bIns="54864" anchor="t">
            <a:spAutoFit/>
          </a:bodyPr>
          <a:lstStyle/>
          <a:p>
            <a:pPr algn="ctr"/>
            <a:r>
              <a:rPr sz="1000" b="0">
                <a:solidFill>
                  <a:srgbClr val="5D687D"/>
                </a:solidFill>
                <a:latin typeface="Aptos"/>
              </a:rPr>
              <a:t>REAL / FAKE</a:t>
            </a:r>
          </a:p>
        </p:txBody>
      </p:sp>
      <p:cxnSp>
        <p:nvCxnSpPr>
          <p:cNvPr id="21" name="Connector 20"/>
          <p:cNvCxnSpPr/>
          <p:nvPr/>
        </p:nvCxnSpPr>
        <p:spPr>
          <a:xfrm>
            <a:off x="2359151" y="2578608"/>
            <a:ext cx="283465" cy="0"/>
          </a:xfrm>
          <a:prstGeom prst="line">
            <a:avLst/>
          </a:prstGeom>
          <a:ln w="17780">
            <a:solidFill>
              <a:srgbClr val="3563E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553712" y="2578608"/>
            <a:ext cx="283464" cy="0"/>
          </a:xfrm>
          <a:prstGeom prst="line">
            <a:avLst/>
          </a:prstGeom>
          <a:ln w="17780">
            <a:solidFill>
              <a:srgbClr val="3563E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068312" y="2578608"/>
            <a:ext cx="283463" cy="0"/>
          </a:xfrm>
          <a:prstGeom prst="line">
            <a:avLst/>
          </a:prstGeom>
          <a:ln w="17780">
            <a:solidFill>
              <a:srgbClr val="3563E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262872" y="2578608"/>
            <a:ext cx="283464" cy="0"/>
          </a:xfrm>
          <a:prstGeom prst="line">
            <a:avLst/>
          </a:prstGeom>
          <a:ln w="17780">
            <a:solidFill>
              <a:srgbClr val="3563E9"/>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5840" y="4069080"/>
            <a:ext cx="4754880" cy="118872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05840" y="4178808"/>
            <a:ext cx="64008" cy="969264"/>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88720" y="4206240"/>
            <a:ext cx="4434840" cy="329184"/>
          </a:xfrm>
          <a:prstGeom prst="rect">
            <a:avLst/>
          </a:prstGeom>
          <a:noFill/>
        </p:spPr>
        <p:txBody>
          <a:bodyPr wrap="square" lIns="54864" tIns="54864" rIns="54864" bIns="54864" anchor="t">
            <a:spAutoFit/>
          </a:bodyPr>
          <a:lstStyle/>
          <a:p>
            <a:r>
              <a:rPr sz="1600" b="1">
                <a:solidFill>
                  <a:srgbClr val="17234F"/>
                </a:solidFill>
                <a:latin typeface="Aptos"/>
              </a:rPr>
              <a:t>Input consistency</a:t>
            </a:r>
          </a:p>
        </p:txBody>
      </p:sp>
      <p:sp>
        <p:nvSpPr>
          <p:cNvPr id="28" name="TextBox 27"/>
          <p:cNvSpPr txBox="1"/>
          <p:nvPr/>
        </p:nvSpPr>
        <p:spPr>
          <a:xfrm>
            <a:off x="1188720" y="4590288"/>
            <a:ext cx="4434840" cy="566928"/>
          </a:xfrm>
          <a:prstGeom prst="rect">
            <a:avLst/>
          </a:prstGeom>
          <a:noFill/>
        </p:spPr>
        <p:txBody>
          <a:bodyPr wrap="square" lIns="54864" tIns="54864" rIns="54864" bIns="54864" anchor="t">
            <a:spAutoFit/>
          </a:bodyPr>
          <a:lstStyle/>
          <a:p>
            <a:r>
              <a:rPr sz="1400" b="0">
                <a:solidFill>
                  <a:srgbClr val="232A3A"/>
                </a:solidFill>
                <a:latin typeface="Aptos"/>
              </a:rPr>
              <a:t>Training and app inference should use compatible preprocessing and image dimensions.</a:t>
            </a:r>
          </a:p>
        </p:txBody>
      </p:sp>
      <p:sp>
        <p:nvSpPr>
          <p:cNvPr id="29" name="Rounded Rectangle 28"/>
          <p:cNvSpPr/>
          <p:nvPr/>
        </p:nvSpPr>
        <p:spPr>
          <a:xfrm>
            <a:off x="6400800" y="4069080"/>
            <a:ext cx="4754880" cy="118872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00800" y="4178808"/>
            <a:ext cx="64008" cy="969264"/>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0" y="4206240"/>
            <a:ext cx="4434840" cy="329184"/>
          </a:xfrm>
          <a:prstGeom prst="rect">
            <a:avLst/>
          </a:prstGeom>
          <a:noFill/>
        </p:spPr>
        <p:txBody>
          <a:bodyPr wrap="square" lIns="54864" tIns="54864" rIns="54864" bIns="54864" anchor="t">
            <a:spAutoFit/>
          </a:bodyPr>
          <a:lstStyle/>
          <a:p>
            <a:r>
              <a:rPr sz="1600" b="1">
                <a:solidFill>
                  <a:srgbClr val="17234F"/>
                </a:solidFill>
                <a:latin typeface="Aptos"/>
              </a:rPr>
              <a:t>Output interpretation</a:t>
            </a:r>
          </a:p>
        </p:txBody>
      </p:sp>
      <p:sp>
        <p:nvSpPr>
          <p:cNvPr id="32" name="TextBox 31"/>
          <p:cNvSpPr txBox="1"/>
          <p:nvPr/>
        </p:nvSpPr>
        <p:spPr>
          <a:xfrm>
            <a:off x="6583680" y="4590288"/>
            <a:ext cx="4434840" cy="566928"/>
          </a:xfrm>
          <a:prstGeom prst="rect">
            <a:avLst/>
          </a:prstGeom>
          <a:noFill/>
        </p:spPr>
        <p:txBody>
          <a:bodyPr wrap="square" lIns="54864" tIns="54864" rIns="54864" bIns="54864" anchor="t">
            <a:spAutoFit/>
          </a:bodyPr>
          <a:lstStyle/>
          <a:p>
            <a:r>
              <a:rPr sz="1400" b="0">
                <a:solidFill>
                  <a:srgbClr val="232A3A"/>
                </a:solidFill>
                <a:latin typeface="Aptos"/>
              </a:rPr>
              <a:t>Map the model output to the correct class order; calibrate thresholds only with held-out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Model training</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The model learns by comparing its predictions with known labels.</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10</a:t>
            </a:r>
          </a:p>
        </p:txBody>
      </p:sp>
      <p:sp>
        <p:nvSpPr>
          <p:cNvPr id="6" name="Rounded Rectangle 5"/>
          <p:cNvSpPr/>
          <p:nvPr/>
        </p:nvSpPr>
        <p:spPr>
          <a:xfrm>
            <a:off x="731520" y="1417320"/>
            <a:ext cx="2240280" cy="475488"/>
          </a:xfrm>
          <a:prstGeom prst="round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1. Forward pass</a:t>
            </a:r>
          </a:p>
        </p:txBody>
      </p:sp>
      <p:sp>
        <p:nvSpPr>
          <p:cNvPr id="7" name="TextBox 6"/>
          <p:cNvSpPr txBox="1"/>
          <p:nvPr/>
        </p:nvSpPr>
        <p:spPr>
          <a:xfrm>
            <a:off x="3246120" y="1453896"/>
            <a:ext cx="7955279" cy="457200"/>
          </a:xfrm>
          <a:prstGeom prst="rect">
            <a:avLst/>
          </a:prstGeom>
          <a:noFill/>
        </p:spPr>
        <p:txBody>
          <a:bodyPr wrap="square" lIns="54864" tIns="54864" rIns="54864" bIns="54864" anchor="t">
            <a:spAutoFit/>
          </a:bodyPr>
          <a:lstStyle/>
          <a:p>
            <a:r>
              <a:rPr sz="1500" b="0">
                <a:solidFill>
                  <a:srgbClr val="232A3A"/>
                </a:solidFill>
                <a:latin typeface="Aptos"/>
              </a:rPr>
              <a:t>Image moves through the network and produces a score.</a:t>
            </a:r>
          </a:p>
        </p:txBody>
      </p:sp>
      <p:sp>
        <p:nvSpPr>
          <p:cNvPr id="8" name="Rounded Rectangle 7"/>
          <p:cNvSpPr/>
          <p:nvPr/>
        </p:nvSpPr>
        <p:spPr>
          <a:xfrm>
            <a:off x="731520" y="2258568"/>
            <a:ext cx="2240280" cy="475488"/>
          </a:xfrm>
          <a:prstGeom prst="round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2. Loss calculation</a:t>
            </a:r>
          </a:p>
        </p:txBody>
      </p:sp>
      <p:sp>
        <p:nvSpPr>
          <p:cNvPr id="9" name="TextBox 8"/>
          <p:cNvSpPr txBox="1"/>
          <p:nvPr/>
        </p:nvSpPr>
        <p:spPr>
          <a:xfrm>
            <a:off x="3246120" y="2295144"/>
            <a:ext cx="7955279" cy="457200"/>
          </a:xfrm>
          <a:prstGeom prst="rect">
            <a:avLst/>
          </a:prstGeom>
          <a:noFill/>
        </p:spPr>
        <p:txBody>
          <a:bodyPr wrap="square" lIns="54864" tIns="54864" rIns="54864" bIns="54864" anchor="t">
            <a:spAutoFit/>
          </a:bodyPr>
          <a:lstStyle/>
          <a:p>
            <a:r>
              <a:rPr sz="1500" b="0">
                <a:solidFill>
                  <a:srgbClr val="232A3A"/>
                </a:solidFill>
                <a:latin typeface="Aptos"/>
              </a:rPr>
              <a:t>Loss measures disagreement between prediction and true label.</a:t>
            </a:r>
          </a:p>
        </p:txBody>
      </p:sp>
      <p:sp>
        <p:nvSpPr>
          <p:cNvPr id="10" name="Rounded Rectangle 9"/>
          <p:cNvSpPr/>
          <p:nvPr/>
        </p:nvSpPr>
        <p:spPr>
          <a:xfrm>
            <a:off x="731520" y="3099816"/>
            <a:ext cx="2240280" cy="475488"/>
          </a:xfrm>
          <a:prstGeom prst="round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3. Backpropagation</a:t>
            </a:r>
          </a:p>
        </p:txBody>
      </p:sp>
      <p:sp>
        <p:nvSpPr>
          <p:cNvPr id="11" name="TextBox 10"/>
          <p:cNvSpPr txBox="1"/>
          <p:nvPr/>
        </p:nvSpPr>
        <p:spPr>
          <a:xfrm>
            <a:off x="3246120" y="3136392"/>
            <a:ext cx="7955279" cy="457200"/>
          </a:xfrm>
          <a:prstGeom prst="rect">
            <a:avLst/>
          </a:prstGeom>
          <a:noFill/>
        </p:spPr>
        <p:txBody>
          <a:bodyPr wrap="square" lIns="54864" tIns="54864" rIns="54864" bIns="54864" anchor="t">
            <a:spAutoFit/>
          </a:bodyPr>
          <a:lstStyle/>
          <a:p>
            <a:r>
              <a:rPr sz="1500" b="0">
                <a:solidFill>
                  <a:srgbClr val="232A3A"/>
                </a:solidFill>
                <a:latin typeface="Aptos"/>
              </a:rPr>
              <a:t>Gradients indicate how model weights should change.</a:t>
            </a:r>
          </a:p>
        </p:txBody>
      </p:sp>
      <p:sp>
        <p:nvSpPr>
          <p:cNvPr id="12" name="Rounded Rectangle 11"/>
          <p:cNvSpPr/>
          <p:nvPr/>
        </p:nvSpPr>
        <p:spPr>
          <a:xfrm>
            <a:off x="731520" y="3941064"/>
            <a:ext cx="2240280" cy="475488"/>
          </a:xfrm>
          <a:prstGeom prst="round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4. Optimizer update</a:t>
            </a:r>
          </a:p>
        </p:txBody>
      </p:sp>
      <p:sp>
        <p:nvSpPr>
          <p:cNvPr id="13" name="TextBox 12"/>
          <p:cNvSpPr txBox="1"/>
          <p:nvPr/>
        </p:nvSpPr>
        <p:spPr>
          <a:xfrm>
            <a:off x="3246120" y="3977640"/>
            <a:ext cx="7955279" cy="457200"/>
          </a:xfrm>
          <a:prstGeom prst="rect">
            <a:avLst/>
          </a:prstGeom>
          <a:noFill/>
        </p:spPr>
        <p:txBody>
          <a:bodyPr wrap="square" lIns="54864" tIns="54864" rIns="54864" bIns="54864" anchor="t">
            <a:spAutoFit/>
          </a:bodyPr>
          <a:lstStyle/>
          <a:p>
            <a:r>
              <a:rPr sz="1500" b="0">
                <a:solidFill>
                  <a:srgbClr val="232A3A"/>
                </a:solidFill>
                <a:latin typeface="Aptos"/>
              </a:rPr>
              <a:t>Weights are adjusted to reduce loss.</a:t>
            </a:r>
          </a:p>
        </p:txBody>
      </p:sp>
      <p:sp>
        <p:nvSpPr>
          <p:cNvPr id="14" name="Rounded Rectangle 13"/>
          <p:cNvSpPr/>
          <p:nvPr/>
        </p:nvSpPr>
        <p:spPr>
          <a:xfrm>
            <a:off x="731520" y="4782312"/>
            <a:ext cx="2240280" cy="475488"/>
          </a:xfrm>
          <a:prstGeom prst="round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5. Validation</a:t>
            </a:r>
          </a:p>
        </p:txBody>
      </p:sp>
      <p:sp>
        <p:nvSpPr>
          <p:cNvPr id="15" name="TextBox 14"/>
          <p:cNvSpPr txBox="1"/>
          <p:nvPr/>
        </p:nvSpPr>
        <p:spPr>
          <a:xfrm>
            <a:off x="3246120" y="4818888"/>
            <a:ext cx="7955279" cy="457200"/>
          </a:xfrm>
          <a:prstGeom prst="rect">
            <a:avLst/>
          </a:prstGeom>
          <a:noFill/>
        </p:spPr>
        <p:txBody>
          <a:bodyPr wrap="square" lIns="54864" tIns="54864" rIns="54864" bIns="54864" anchor="t">
            <a:spAutoFit/>
          </a:bodyPr>
          <a:lstStyle/>
          <a:p>
            <a:r>
              <a:rPr sz="1500" b="0">
                <a:solidFill>
                  <a:srgbClr val="232A3A"/>
                </a:solidFill>
                <a:latin typeface="Aptos"/>
              </a:rPr>
              <a:t>Performance is checked on examples not used for weight updates.</a:t>
            </a:r>
          </a:p>
        </p:txBody>
      </p:sp>
      <p:sp>
        <p:nvSpPr>
          <p:cNvPr id="16" name="TextBox 15"/>
          <p:cNvSpPr txBox="1"/>
          <p:nvPr/>
        </p:nvSpPr>
        <p:spPr>
          <a:xfrm>
            <a:off x="868680" y="5806440"/>
            <a:ext cx="10241280" cy="274320"/>
          </a:xfrm>
          <a:prstGeom prst="rect">
            <a:avLst/>
          </a:prstGeom>
          <a:noFill/>
        </p:spPr>
        <p:txBody>
          <a:bodyPr wrap="square" lIns="54864" tIns="54864" rIns="54864" bIns="54864" anchor="t">
            <a:spAutoFit/>
          </a:bodyPr>
          <a:lstStyle/>
          <a:p>
            <a:pPr algn="ctr"/>
            <a:r>
              <a:rPr sz="1200" b="0">
                <a:solidFill>
                  <a:srgbClr val="5D687D"/>
                </a:solidFill>
                <a:latin typeface="Aptos"/>
              </a:rPr>
              <a:t>Key settings to report from the final run: optimizer • learning rate • batch size • epochs • loss function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How do we evaluate the model?</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Different metrics reveal different types of mistakes.</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11</a:t>
            </a:r>
          </a:p>
        </p:txBody>
      </p:sp>
      <p:sp>
        <p:nvSpPr>
          <p:cNvPr id="6" name="Rounded Rectangle 5"/>
          <p:cNvSpPr/>
          <p:nvPr/>
        </p:nvSpPr>
        <p:spPr>
          <a:xfrm>
            <a:off x="640080" y="1508760"/>
            <a:ext cx="5212080" cy="11430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18488"/>
            <a:ext cx="64008" cy="923544"/>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645919"/>
            <a:ext cx="4892040" cy="329184"/>
          </a:xfrm>
          <a:prstGeom prst="rect">
            <a:avLst/>
          </a:prstGeom>
          <a:noFill/>
        </p:spPr>
        <p:txBody>
          <a:bodyPr wrap="square" lIns="54864" tIns="54864" rIns="54864" bIns="54864" anchor="t">
            <a:spAutoFit/>
          </a:bodyPr>
          <a:lstStyle/>
          <a:p>
            <a:r>
              <a:rPr sz="1600" b="1">
                <a:solidFill>
                  <a:srgbClr val="17234F"/>
                </a:solidFill>
                <a:latin typeface="Aptos"/>
              </a:rPr>
              <a:t>Accuracy</a:t>
            </a:r>
          </a:p>
        </p:txBody>
      </p:sp>
      <p:sp>
        <p:nvSpPr>
          <p:cNvPr id="9" name="TextBox 8"/>
          <p:cNvSpPr txBox="1"/>
          <p:nvPr/>
        </p:nvSpPr>
        <p:spPr>
          <a:xfrm>
            <a:off x="822959" y="2029967"/>
            <a:ext cx="4892040" cy="521207"/>
          </a:xfrm>
          <a:prstGeom prst="rect">
            <a:avLst/>
          </a:prstGeom>
          <a:noFill/>
        </p:spPr>
        <p:txBody>
          <a:bodyPr wrap="square" lIns="54864" tIns="54864" rIns="54864" bIns="54864" anchor="t">
            <a:spAutoFit/>
          </a:bodyPr>
          <a:lstStyle/>
          <a:p>
            <a:r>
              <a:rPr sz="1400" b="0">
                <a:solidFill>
                  <a:srgbClr val="232A3A"/>
                </a:solidFill>
                <a:latin typeface="Aptos"/>
              </a:rPr>
              <a:t>Correct predictions ÷ all predictions</a:t>
            </a:r>
          </a:p>
        </p:txBody>
      </p:sp>
      <p:sp>
        <p:nvSpPr>
          <p:cNvPr id="10" name="Rounded Rectangle 9"/>
          <p:cNvSpPr/>
          <p:nvPr/>
        </p:nvSpPr>
        <p:spPr>
          <a:xfrm>
            <a:off x="6263640" y="1508760"/>
            <a:ext cx="5212080" cy="11430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618488"/>
            <a:ext cx="64008" cy="923544"/>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645919"/>
            <a:ext cx="4892040" cy="329184"/>
          </a:xfrm>
          <a:prstGeom prst="rect">
            <a:avLst/>
          </a:prstGeom>
          <a:noFill/>
        </p:spPr>
        <p:txBody>
          <a:bodyPr wrap="square" lIns="54864" tIns="54864" rIns="54864" bIns="54864" anchor="t">
            <a:spAutoFit/>
          </a:bodyPr>
          <a:lstStyle/>
          <a:p>
            <a:r>
              <a:rPr sz="1600" b="1">
                <a:solidFill>
                  <a:srgbClr val="17234F"/>
                </a:solidFill>
                <a:latin typeface="Aptos"/>
              </a:rPr>
              <a:t>Precision</a:t>
            </a:r>
          </a:p>
        </p:txBody>
      </p:sp>
      <p:sp>
        <p:nvSpPr>
          <p:cNvPr id="13" name="TextBox 12"/>
          <p:cNvSpPr txBox="1"/>
          <p:nvPr/>
        </p:nvSpPr>
        <p:spPr>
          <a:xfrm>
            <a:off x="6446520" y="2029967"/>
            <a:ext cx="4892040" cy="521207"/>
          </a:xfrm>
          <a:prstGeom prst="rect">
            <a:avLst/>
          </a:prstGeom>
          <a:noFill/>
        </p:spPr>
        <p:txBody>
          <a:bodyPr wrap="square" lIns="54864" tIns="54864" rIns="54864" bIns="54864" anchor="t">
            <a:spAutoFit/>
          </a:bodyPr>
          <a:lstStyle/>
          <a:p>
            <a:r>
              <a:rPr sz="1400" b="0">
                <a:solidFill>
                  <a:srgbClr val="232A3A"/>
                </a:solidFill>
                <a:latin typeface="Aptos"/>
              </a:rPr>
              <a:t>Of predicted FAKE images, how many were FAKE?</a:t>
            </a:r>
          </a:p>
        </p:txBody>
      </p:sp>
      <p:sp>
        <p:nvSpPr>
          <p:cNvPr id="14" name="Rounded Rectangle 13"/>
          <p:cNvSpPr/>
          <p:nvPr/>
        </p:nvSpPr>
        <p:spPr>
          <a:xfrm>
            <a:off x="640080" y="3017520"/>
            <a:ext cx="5212080" cy="11430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127248"/>
            <a:ext cx="64008" cy="923544"/>
          </a:xfrm>
          <a:prstGeom prst="rect">
            <a:avLst/>
          </a:prstGeom>
          <a:solidFill>
            <a:srgbClr val="D64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59" y="3154679"/>
            <a:ext cx="4892040" cy="329184"/>
          </a:xfrm>
          <a:prstGeom prst="rect">
            <a:avLst/>
          </a:prstGeom>
          <a:noFill/>
        </p:spPr>
        <p:txBody>
          <a:bodyPr wrap="square" lIns="54864" tIns="54864" rIns="54864" bIns="54864" anchor="t">
            <a:spAutoFit/>
          </a:bodyPr>
          <a:lstStyle/>
          <a:p>
            <a:r>
              <a:rPr sz="1600" b="1">
                <a:solidFill>
                  <a:srgbClr val="17234F"/>
                </a:solidFill>
                <a:latin typeface="Aptos"/>
              </a:rPr>
              <a:t>Recall</a:t>
            </a:r>
          </a:p>
        </p:txBody>
      </p:sp>
      <p:sp>
        <p:nvSpPr>
          <p:cNvPr id="17" name="TextBox 16"/>
          <p:cNvSpPr txBox="1"/>
          <p:nvPr/>
        </p:nvSpPr>
        <p:spPr>
          <a:xfrm>
            <a:off x="822959" y="3538727"/>
            <a:ext cx="4892040" cy="521207"/>
          </a:xfrm>
          <a:prstGeom prst="rect">
            <a:avLst/>
          </a:prstGeom>
          <a:noFill/>
        </p:spPr>
        <p:txBody>
          <a:bodyPr wrap="square" lIns="54864" tIns="54864" rIns="54864" bIns="54864" anchor="t">
            <a:spAutoFit/>
          </a:bodyPr>
          <a:lstStyle/>
          <a:p>
            <a:r>
              <a:rPr sz="1400" b="0">
                <a:solidFill>
                  <a:srgbClr val="232A3A"/>
                </a:solidFill>
                <a:latin typeface="Aptos"/>
              </a:rPr>
              <a:t>Of actual FAKE images, how many did we detect?</a:t>
            </a:r>
          </a:p>
        </p:txBody>
      </p:sp>
      <p:sp>
        <p:nvSpPr>
          <p:cNvPr id="18" name="Rounded Rectangle 17"/>
          <p:cNvSpPr/>
          <p:nvPr/>
        </p:nvSpPr>
        <p:spPr>
          <a:xfrm>
            <a:off x="6263640" y="3017520"/>
            <a:ext cx="5212080" cy="11430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3127248"/>
            <a:ext cx="64008" cy="92354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3154679"/>
            <a:ext cx="4892040" cy="329184"/>
          </a:xfrm>
          <a:prstGeom prst="rect">
            <a:avLst/>
          </a:prstGeom>
          <a:noFill/>
        </p:spPr>
        <p:txBody>
          <a:bodyPr wrap="square" lIns="54864" tIns="54864" rIns="54864" bIns="54864" anchor="t">
            <a:spAutoFit/>
          </a:bodyPr>
          <a:lstStyle/>
          <a:p>
            <a:r>
              <a:rPr sz="1600" b="1">
                <a:solidFill>
                  <a:srgbClr val="17234F"/>
                </a:solidFill>
                <a:latin typeface="Aptos"/>
              </a:rPr>
              <a:t>F1-score</a:t>
            </a:r>
          </a:p>
        </p:txBody>
      </p:sp>
      <p:sp>
        <p:nvSpPr>
          <p:cNvPr id="21" name="TextBox 20"/>
          <p:cNvSpPr txBox="1"/>
          <p:nvPr/>
        </p:nvSpPr>
        <p:spPr>
          <a:xfrm>
            <a:off x="6446520" y="3538727"/>
            <a:ext cx="4892040" cy="521207"/>
          </a:xfrm>
          <a:prstGeom prst="rect">
            <a:avLst/>
          </a:prstGeom>
          <a:noFill/>
        </p:spPr>
        <p:txBody>
          <a:bodyPr wrap="square" lIns="54864" tIns="54864" rIns="54864" bIns="54864" anchor="t">
            <a:spAutoFit/>
          </a:bodyPr>
          <a:lstStyle/>
          <a:p>
            <a:r>
              <a:rPr sz="1400" b="0">
                <a:solidFill>
                  <a:srgbClr val="232A3A"/>
                </a:solidFill>
                <a:latin typeface="Aptos"/>
              </a:rPr>
              <a:t>Harmonic mean of precision and recall</a:t>
            </a:r>
          </a:p>
        </p:txBody>
      </p:sp>
      <p:sp>
        <p:nvSpPr>
          <p:cNvPr id="22" name="TextBox 21"/>
          <p:cNvSpPr txBox="1"/>
          <p:nvPr/>
        </p:nvSpPr>
        <p:spPr>
          <a:xfrm>
            <a:off x="960120" y="4892040"/>
            <a:ext cx="10241280" cy="457200"/>
          </a:xfrm>
          <a:prstGeom prst="rect">
            <a:avLst/>
          </a:prstGeom>
          <a:noFill/>
        </p:spPr>
        <p:txBody>
          <a:bodyPr wrap="square" lIns="54864" tIns="54864" rIns="54864" bIns="54864" anchor="t">
            <a:spAutoFit/>
          </a:bodyPr>
          <a:lstStyle/>
          <a:p>
            <a:pPr algn="ctr"/>
            <a:r>
              <a:rPr sz="1600" b="1">
                <a:solidFill>
                  <a:srgbClr val="17234F"/>
                </a:solidFill>
                <a:latin typeface="Aptos"/>
              </a:rPr>
              <a:t>For deepfake detection, Fake-class recall matters because missed fakes are false negatives.</a:t>
            </a:r>
          </a:p>
        </p:txBody>
      </p:sp>
      <p:sp>
        <p:nvSpPr>
          <p:cNvPr id="23" name="TextBox 22"/>
          <p:cNvSpPr txBox="1"/>
          <p:nvPr/>
        </p:nvSpPr>
        <p:spPr>
          <a:xfrm>
            <a:off x="914400" y="5486400"/>
            <a:ext cx="10332720" cy="411480"/>
          </a:xfrm>
          <a:prstGeom prst="rect">
            <a:avLst/>
          </a:prstGeom>
          <a:noFill/>
        </p:spPr>
        <p:txBody>
          <a:bodyPr wrap="square" lIns="54864" tIns="54864" rIns="54864" bIns="54864" anchor="t">
            <a:spAutoFit/>
          </a:bodyPr>
          <a:lstStyle/>
          <a:p>
            <a:pPr algn="ctr"/>
            <a:r>
              <a:rPr sz="1200" b="0">
                <a:solidFill>
                  <a:srgbClr val="5D687D"/>
                </a:solidFill>
                <a:latin typeface="Aptos"/>
              </a:rPr>
              <a:t>Always state which dataset and evaluation run produced each metric.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Project results</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Reported runs from project experiments; validation and test figures are different.</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12</a:t>
            </a:r>
          </a:p>
        </p:txBody>
      </p:sp>
      <p:sp>
        <p:nvSpPr>
          <p:cNvPr id="6" name="Rounded Rectangle 5"/>
          <p:cNvSpPr/>
          <p:nvPr/>
        </p:nvSpPr>
        <p:spPr>
          <a:xfrm>
            <a:off x="685800" y="1417320"/>
            <a:ext cx="3429000" cy="13716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27048"/>
            <a:ext cx="64008" cy="1152144"/>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54480"/>
            <a:ext cx="3108960" cy="329184"/>
          </a:xfrm>
          <a:prstGeom prst="rect">
            <a:avLst/>
          </a:prstGeom>
          <a:noFill/>
        </p:spPr>
        <p:txBody>
          <a:bodyPr wrap="square" lIns="54864" tIns="54864" rIns="54864" bIns="54864" anchor="t">
            <a:spAutoFit/>
          </a:bodyPr>
          <a:lstStyle/>
          <a:p>
            <a:r>
              <a:rPr sz="1600" b="1">
                <a:solidFill>
                  <a:srgbClr val="17234F"/>
                </a:solidFill>
                <a:latin typeface="Aptos"/>
              </a:rPr>
              <a:t>Validation accuracy</a:t>
            </a:r>
          </a:p>
        </p:txBody>
      </p:sp>
      <p:sp>
        <p:nvSpPr>
          <p:cNvPr id="9" name="TextBox 8"/>
          <p:cNvSpPr txBox="1"/>
          <p:nvPr/>
        </p:nvSpPr>
        <p:spPr>
          <a:xfrm>
            <a:off x="868680" y="1938528"/>
            <a:ext cx="3108960" cy="749808"/>
          </a:xfrm>
          <a:prstGeom prst="rect">
            <a:avLst/>
          </a:prstGeom>
          <a:noFill/>
        </p:spPr>
        <p:txBody>
          <a:bodyPr wrap="square" lIns="54864" tIns="54864" rIns="54864" bIns="54864" anchor="t">
            <a:spAutoFit/>
          </a:bodyPr>
          <a:lstStyle/>
          <a:p>
            <a:r>
              <a:rPr sz="1400" b="0">
                <a:solidFill>
                  <a:srgbClr val="232A3A"/>
                </a:solidFill>
                <a:latin typeface="Aptos"/>
              </a:rPr>
              <a:t>91.2% in a reported fine-tuned validation run.</a:t>
            </a:r>
          </a:p>
        </p:txBody>
      </p:sp>
      <p:sp>
        <p:nvSpPr>
          <p:cNvPr id="10" name="Rounded Rectangle 9"/>
          <p:cNvSpPr/>
          <p:nvPr/>
        </p:nvSpPr>
        <p:spPr>
          <a:xfrm>
            <a:off x="4389120" y="1417320"/>
            <a:ext cx="3429000" cy="13716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527048"/>
            <a:ext cx="64008" cy="1152144"/>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554480"/>
            <a:ext cx="3108960" cy="329184"/>
          </a:xfrm>
          <a:prstGeom prst="rect">
            <a:avLst/>
          </a:prstGeom>
          <a:noFill/>
        </p:spPr>
        <p:txBody>
          <a:bodyPr wrap="square" lIns="54864" tIns="54864" rIns="54864" bIns="54864" anchor="t">
            <a:spAutoFit/>
          </a:bodyPr>
          <a:lstStyle/>
          <a:p>
            <a:r>
              <a:rPr sz="1600" b="1">
                <a:solidFill>
                  <a:srgbClr val="17234F"/>
                </a:solidFill>
                <a:latin typeface="Aptos"/>
              </a:rPr>
              <a:t>Separate test run</a:t>
            </a:r>
          </a:p>
        </p:txBody>
      </p:sp>
      <p:sp>
        <p:nvSpPr>
          <p:cNvPr id="13" name="TextBox 12"/>
          <p:cNvSpPr txBox="1"/>
          <p:nvPr/>
        </p:nvSpPr>
        <p:spPr>
          <a:xfrm>
            <a:off x="4572000" y="1938528"/>
            <a:ext cx="3108960" cy="749808"/>
          </a:xfrm>
          <a:prstGeom prst="rect">
            <a:avLst/>
          </a:prstGeom>
          <a:noFill/>
        </p:spPr>
        <p:txBody>
          <a:bodyPr wrap="square" lIns="54864" tIns="54864" rIns="54864" bIns="54864" anchor="t">
            <a:spAutoFit/>
          </a:bodyPr>
          <a:lstStyle/>
          <a:p>
            <a:r>
              <a:rPr sz="1400" b="0">
                <a:solidFill>
                  <a:srgbClr val="232A3A"/>
                </a:solidFill>
                <a:latin typeface="Aptos"/>
              </a:rPr>
              <a:t>89.5% accuracy on a reported 1,000-image evaluation.</a:t>
            </a:r>
          </a:p>
        </p:txBody>
      </p:sp>
      <p:sp>
        <p:nvSpPr>
          <p:cNvPr id="14" name="Rounded Rectangle 13"/>
          <p:cNvSpPr/>
          <p:nvPr/>
        </p:nvSpPr>
        <p:spPr>
          <a:xfrm>
            <a:off x="8092440" y="1417320"/>
            <a:ext cx="3429000" cy="137160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527048"/>
            <a:ext cx="64008" cy="1152144"/>
          </a:xfrm>
          <a:prstGeom prst="rect">
            <a:avLst/>
          </a:prstGeom>
          <a:solidFill>
            <a:srgbClr val="D64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19" y="1554480"/>
            <a:ext cx="3108960" cy="329184"/>
          </a:xfrm>
          <a:prstGeom prst="rect">
            <a:avLst/>
          </a:prstGeom>
          <a:noFill/>
        </p:spPr>
        <p:txBody>
          <a:bodyPr wrap="square" lIns="54864" tIns="54864" rIns="54864" bIns="54864" anchor="t">
            <a:spAutoFit/>
          </a:bodyPr>
          <a:lstStyle/>
          <a:p>
            <a:r>
              <a:rPr sz="1600" b="1">
                <a:solidFill>
                  <a:srgbClr val="17234F"/>
                </a:solidFill>
                <a:latin typeface="Aptos"/>
              </a:rPr>
              <a:t>Fake recall</a:t>
            </a:r>
          </a:p>
        </p:txBody>
      </p:sp>
      <p:sp>
        <p:nvSpPr>
          <p:cNvPr id="17" name="TextBox 16"/>
          <p:cNvSpPr txBox="1"/>
          <p:nvPr/>
        </p:nvSpPr>
        <p:spPr>
          <a:xfrm>
            <a:off x="8275319" y="1938528"/>
            <a:ext cx="3108960" cy="749808"/>
          </a:xfrm>
          <a:prstGeom prst="rect">
            <a:avLst/>
          </a:prstGeom>
          <a:noFill/>
        </p:spPr>
        <p:txBody>
          <a:bodyPr wrap="square" lIns="54864" tIns="54864" rIns="54864" bIns="54864" anchor="t">
            <a:spAutoFit/>
          </a:bodyPr>
          <a:lstStyle/>
          <a:p>
            <a:r>
              <a:rPr sz="1400" b="0">
                <a:solidFill>
                  <a:srgbClr val="232A3A"/>
                </a:solidFill>
                <a:latin typeface="Aptos"/>
              </a:rPr>
              <a:t>83% in that reported 1,000-image test run.</a:t>
            </a:r>
          </a:p>
        </p:txBody>
      </p:sp>
      <p:sp>
        <p:nvSpPr>
          <p:cNvPr id="18" name="TextBox 17"/>
          <p:cNvSpPr txBox="1"/>
          <p:nvPr/>
        </p:nvSpPr>
        <p:spPr>
          <a:xfrm>
            <a:off x="868680" y="3154680"/>
            <a:ext cx="4937760" cy="320040"/>
          </a:xfrm>
          <a:prstGeom prst="rect">
            <a:avLst/>
          </a:prstGeom>
          <a:noFill/>
        </p:spPr>
        <p:txBody>
          <a:bodyPr wrap="square" lIns="54864" tIns="54864" rIns="54864" bIns="54864" anchor="t">
            <a:spAutoFit/>
          </a:bodyPr>
          <a:lstStyle/>
          <a:p>
            <a:r>
              <a:rPr sz="1600" b="1">
                <a:solidFill>
                  <a:srgbClr val="17234F"/>
                </a:solidFill>
                <a:latin typeface="Aptos"/>
              </a:rPr>
              <a:t>Reported confusion matrix (1,000 images)</a:t>
            </a:r>
          </a:p>
        </p:txBody>
      </p:sp>
      <p:sp>
        <p:nvSpPr>
          <p:cNvPr id="19" name="TextBox 18"/>
          <p:cNvSpPr txBox="1"/>
          <p:nvPr/>
        </p:nvSpPr>
        <p:spPr>
          <a:xfrm>
            <a:off x="1051560" y="3566160"/>
            <a:ext cx="1325880" cy="320040"/>
          </a:xfrm>
          <a:prstGeom prst="rect">
            <a:avLst/>
          </a:prstGeom>
          <a:noFill/>
        </p:spPr>
        <p:txBody>
          <a:bodyPr wrap="square" lIns="54864" tIns="54864" rIns="54864" bIns="54864" anchor="t">
            <a:spAutoFit/>
          </a:bodyPr>
          <a:lstStyle/>
          <a:p>
            <a:endParaRPr/>
          </a:p>
        </p:txBody>
      </p:sp>
      <p:sp>
        <p:nvSpPr>
          <p:cNvPr id="20" name="Rounded Rectangle 19"/>
          <p:cNvSpPr/>
          <p:nvPr/>
        </p:nvSpPr>
        <p:spPr>
          <a:xfrm>
            <a:off x="914400" y="3886200"/>
            <a:ext cx="1554480" cy="749808"/>
          </a:xfrm>
          <a:prstGeom prst="roundRect">
            <a:avLst/>
          </a:prstGeom>
          <a:solidFill>
            <a:srgbClr val="E6F6EF"/>
          </a:solidFill>
          <a:ln>
            <a:solidFill>
              <a:srgbClr val="239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3977639"/>
            <a:ext cx="1463040" cy="548640"/>
          </a:xfrm>
          <a:prstGeom prst="rect">
            <a:avLst/>
          </a:prstGeom>
          <a:noFill/>
        </p:spPr>
        <p:txBody>
          <a:bodyPr wrap="square" lIns="54864" tIns="54864" rIns="54864" bIns="54864" anchor="ctr">
            <a:spAutoFit/>
          </a:bodyPr>
          <a:lstStyle/>
          <a:p>
            <a:pPr algn="ctr"/>
            <a:r>
              <a:rPr sz="1300" b="1">
                <a:solidFill>
                  <a:srgbClr val="17234F"/>
                </a:solidFill>
                <a:latin typeface="Aptos"/>
              </a:rPr>
              <a:t>Pred. FAKE
417</a:t>
            </a:r>
          </a:p>
        </p:txBody>
      </p:sp>
      <p:sp>
        <p:nvSpPr>
          <p:cNvPr id="22" name="Rounded Rectangle 21"/>
          <p:cNvSpPr/>
          <p:nvPr/>
        </p:nvSpPr>
        <p:spPr>
          <a:xfrm>
            <a:off x="2743200" y="3886200"/>
            <a:ext cx="1554480" cy="749808"/>
          </a:xfrm>
          <a:prstGeom prst="roundRect">
            <a:avLst/>
          </a:prstGeom>
          <a:solidFill>
            <a:srgbClr val="FFEBEE"/>
          </a:solidFill>
          <a:ln>
            <a:solidFill>
              <a:srgbClr val="D64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88920" y="3977639"/>
            <a:ext cx="1463040" cy="548640"/>
          </a:xfrm>
          <a:prstGeom prst="rect">
            <a:avLst/>
          </a:prstGeom>
          <a:noFill/>
        </p:spPr>
        <p:txBody>
          <a:bodyPr wrap="square" lIns="54864" tIns="54864" rIns="54864" bIns="54864" anchor="ctr">
            <a:spAutoFit/>
          </a:bodyPr>
          <a:lstStyle/>
          <a:p>
            <a:pPr algn="ctr"/>
            <a:r>
              <a:rPr sz="1300" b="1">
                <a:solidFill>
                  <a:srgbClr val="17234F"/>
                </a:solidFill>
                <a:latin typeface="Aptos"/>
              </a:rPr>
              <a:t>Pred. REAL
83</a:t>
            </a:r>
          </a:p>
        </p:txBody>
      </p:sp>
      <p:sp>
        <p:nvSpPr>
          <p:cNvPr id="24" name="Rounded Rectangle 23"/>
          <p:cNvSpPr/>
          <p:nvPr/>
        </p:nvSpPr>
        <p:spPr>
          <a:xfrm>
            <a:off x="914400" y="4800600"/>
            <a:ext cx="1554480" cy="749808"/>
          </a:xfrm>
          <a:prstGeom prst="roundRect">
            <a:avLst/>
          </a:prstGeom>
          <a:solidFill>
            <a:srgbClr val="FFEBEE"/>
          </a:solidFill>
          <a:ln>
            <a:solidFill>
              <a:srgbClr val="D64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 y="4892040"/>
            <a:ext cx="1463040" cy="548640"/>
          </a:xfrm>
          <a:prstGeom prst="rect">
            <a:avLst/>
          </a:prstGeom>
          <a:noFill/>
        </p:spPr>
        <p:txBody>
          <a:bodyPr wrap="square" lIns="54864" tIns="54864" rIns="54864" bIns="54864" anchor="ctr">
            <a:spAutoFit/>
          </a:bodyPr>
          <a:lstStyle/>
          <a:p>
            <a:pPr algn="ctr"/>
            <a:r>
              <a:rPr sz="1300" b="1">
                <a:solidFill>
                  <a:srgbClr val="17234F"/>
                </a:solidFill>
                <a:latin typeface="Aptos"/>
              </a:rPr>
              <a:t>Pred. FAKE
22</a:t>
            </a:r>
          </a:p>
        </p:txBody>
      </p:sp>
      <p:sp>
        <p:nvSpPr>
          <p:cNvPr id="26" name="Rounded Rectangle 25"/>
          <p:cNvSpPr/>
          <p:nvPr/>
        </p:nvSpPr>
        <p:spPr>
          <a:xfrm>
            <a:off x="2743200" y="4800600"/>
            <a:ext cx="1554480" cy="749808"/>
          </a:xfrm>
          <a:prstGeom prst="roundRect">
            <a:avLst/>
          </a:prstGeom>
          <a:solidFill>
            <a:srgbClr val="E6F6EF"/>
          </a:solidFill>
          <a:ln>
            <a:solidFill>
              <a:srgbClr val="239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88920" y="4892040"/>
            <a:ext cx="1463040" cy="548640"/>
          </a:xfrm>
          <a:prstGeom prst="rect">
            <a:avLst/>
          </a:prstGeom>
          <a:noFill/>
        </p:spPr>
        <p:txBody>
          <a:bodyPr wrap="square" lIns="54864" tIns="54864" rIns="54864" bIns="54864" anchor="ctr">
            <a:spAutoFit/>
          </a:bodyPr>
          <a:lstStyle/>
          <a:p>
            <a:pPr algn="ctr"/>
            <a:r>
              <a:rPr sz="1300" b="1">
                <a:solidFill>
                  <a:srgbClr val="17234F"/>
                </a:solidFill>
                <a:latin typeface="Aptos"/>
              </a:rPr>
              <a:t>Pred. REAL
478</a:t>
            </a:r>
          </a:p>
        </p:txBody>
      </p:sp>
      <p:sp>
        <p:nvSpPr>
          <p:cNvPr id="28" name="TextBox 27"/>
          <p:cNvSpPr txBox="1"/>
          <p:nvPr/>
        </p:nvSpPr>
        <p:spPr>
          <a:xfrm>
            <a:off x="4983480" y="3566160"/>
            <a:ext cx="6172200" cy="1691640"/>
          </a:xfrm>
          <a:prstGeom prst="rect">
            <a:avLst/>
          </a:prstGeom>
          <a:noFill/>
        </p:spPr>
        <p:txBody>
          <a:bodyPr wrap="square" lIns="54864" tIns="54864" rIns="54864" bIns="54864" anchor="t">
            <a:spAutoFit/>
          </a:bodyPr>
          <a:lstStyle/>
          <a:p>
            <a:r>
              <a:rPr sz="1400" b="0">
                <a:solidFill>
                  <a:srgbClr val="232A3A"/>
                </a:solidFill>
                <a:latin typeface="Aptos"/>
              </a:rPr>
              <a:t>Interpretation
• 417 fake images were correctly detected.
• 83 fake images were missed (false negatives).
• 22 real images were flagged as fake.
• 478 real images were correctly classified.</a:t>
            </a:r>
          </a:p>
        </p:txBody>
      </p:sp>
      <p:sp>
        <p:nvSpPr>
          <p:cNvPr id="29" name="TextBox 28"/>
          <p:cNvSpPr txBox="1"/>
          <p:nvPr/>
        </p:nvSpPr>
        <p:spPr>
          <a:xfrm>
            <a:off x="822960" y="5897880"/>
            <a:ext cx="10698480" cy="274320"/>
          </a:xfrm>
          <a:prstGeom prst="rect">
            <a:avLst/>
          </a:prstGeom>
          <a:noFill/>
        </p:spPr>
        <p:txBody>
          <a:bodyPr wrap="square" lIns="54864" tIns="54864" rIns="54864" bIns="54864" anchor="t">
            <a:spAutoFit/>
          </a:bodyPr>
          <a:lstStyle/>
          <a:p>
            <a:pPr algn="ctr"/>
            <a:r>
              <a:rPr sz="1000" b="0">
                <a:solidFill>
                  <a:srgbClr val="5D687D"/>
                </a:solidFill>
                <a:latin typeface="Aptos"/>
              </a:rPr>
              <a:t>Verify these numbers against the final saved model and test script before presenting; results can change between runs.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Challenges and improvements</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Better results require reliable data, testing, and careful error analysis.</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13</a:t>
            </a:r>
          </a:p>
        </p:txBody>
      </p:sp>
      <p:sp>
        <p:nvSpPr>
          <p:cNvPr id="6" name="Rounded Rectangle 5"/>
          <p:cNvSpPr/>
          <p:nvPr/>
        </p:nvSpPr>
        <p:spPr>
          <a:xfrm>
            <a:off x="640080" y="1417320"/>
            <a:ext cx="5257800" cy="141732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27048"/>
            <a:ext cx="64008" cy="1197864"/>
          </a:xfrm>
          <a:prstGeom prst="rect">
            <a:avLst/>
          </a:prstGeom>
          <a:solidFill>
            <a:srgbClr val="F0A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554480"/>
            <a:ext cx="4937760" cy="329184"/>
          </a:xfrm>
          <a:prstGeom prst="rect">
            <a:avLst/>
          </a:prstGeom>
          <a:noFill/>
        </p:spPr>
        <p:txBody>
          <a:bodyPr wrap="square" lIns="54864" tIns="54864" rIns="54864" bIns="54864" anchor="t">
            <a:spAutoFit/>
          </a:bodyPr>
          <a:lstStyle/>
          <a:p>
            <a:r>
              <a:rPr sz="1600" b="1">
                <a:solidFill>
                  <a:srgbClr val="17234F"/>
                </a:solidFill>
                <a:latin typeface="Aptos"/>
              </a:rPr>
              <a:t>Challenge: limited compute and storage</a:t>
            </a:r>
          </a:p>
        </p:txBody>
      </p:sp>
      <p:sp>
        <p:nvSpPr>
          <p:cNvPr id="9" name="TextBox 8"/>
          <p:cNvSpPr txBox="1"/>
          <p:nvPr/>
        </p:nvSpPr>
        <p:spPr>
          <a:xfrm>
            <a:off x="822959" y="1938528"/>
            <a:ext cx="4937760" cy="795528"/>
          </a:xfrm>
          <a:prstGeom prst="rect">
            <a:avLst/>
          </a:prstGeom>
          <a:noFill/>
        </p:spPr>
        <p:txBody>
          <a:bodyPr wrap="square" lIns="54864" tIns="54864" rIns="54864" bIns="54864" anchor="t">
            <a:spAutoFit/>
          </a:bodyPr>
          <a:lstStyle/>
          <a:p>
            <a:r>
              <a:rPr sz="1400" b="0">
                <a:solidFill>
                  <a:srgbClr val="232A3A"/>
                </a:solidFill>
                <a:latin typeface="Aptos"/>
              </a:rPr>
              <a:t>Large image datasets take space; CPU training can be slow.</a:t>
            </a:r>
          </a:p>
        </p:txBody>
      </p:sp>
      <p:sp>
        <p:nvSpPr>
          <p:cNvPr id="10" name="Rounded Rectangle 9"/>
          <p:cNvSpPr/>
          <p:nvPr/>
        </p:nvSpPr>
        <p:spPr>
          <a:xfrm>
            <a:off x="6217920" y="1417320"/>
            <a:ext cx="5257800" cy="141732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527048"/>
            <a:ext cx="64008" cy="1197864"/>
          </a:xfrm>
          <a:prstGeom prst="rect">
            <a:avLst/>
          </a:prstGeom>
          <a:solidFill>
            <a:srgbClr val="D64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54480"/>
            <a:ext cx="4937760" cy="329184"/>
          </a:xfrm>
          <a:prstGeom prst="rect">
            <a:avLst/>
          </a:prstGeom>
          <a:noFill/>
        </p:spPr>
        <p:txBody>
          <a:bodyPr wrap="square" lIns="54864" tIns="54864" rIns="54864" bIns="54864" anchor="t">
            <a:spAutoFit/>
          </a:bodyPr>
          <a:lstStyle/>
          <a:p>
            <a:r>
              <a:rPr sz="1600" b="1">
                <a:solidFill>
                  <a:srgbClr val="17234F"/>
                </a:solidFill>
                <a:latin typeface="Aptos"/>
              </a:rPr>
              <a:t>Challenge: missed fake images</a:t>
            </a:r>
          </a:p>
        </p:txBody>
      </p:sp>
      <p:sp>
        <p:nvSpPr>
          <p:cNvPr id="13" name="TextBox 12"/>
          <p:cNvSpPr txBox="1"/>
          <p:nvPr/>
        </p:nvSpPr>
        <p:spPr>
          <a:xfrm>
            <a:off x="6400800" y="1938528"/>
            <a:ext cx="4937760" cy="795528"/>
          </a:xfrm>
          <a:prstGeom prst="rect">
            <a:avLst/>
          </a:prstGeom>
          <a:noFill/>
        </p:spPr>
        <p:txBody>
          <a:bodyPr wrap="square" lIns="54864" tIns="54864" rIns="54864" bIns="54864" anchor="t">
            <a:spAutoFit/>
          </a:bodyPr>
          <a:lstStyle/>
          <a:p>
            <a:r>
              <a:rPr sz="1400" b="0">
                <a:solidFill>
                  <a:srgbClr val="232A3A"/>
                </a:solidFill>
                <a:latin typeface="Aptos"/>
              </a:rPr>
              <a:t>A strong overall accuracy can hide weaker recall for the FAKE class.</a:t>
            </a:r>
          </a:p>
        </p:txBody>
      </p:sp>
      <p:sp>
        <p:nvSpPr>
          <p:cNvPr id="14" name="Rounded Rectangle 13"/>
          <p:cNvSpPr/>
          <p:nvPr/>
        </p:nvSpPr>
        <p:spPr>
          <a:xfrm>
            <a:off x="640080" y="3246120"/>
            <a:ext cx="5257800" cy="141732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355848"/>
            <a:ext cx="64008" cy="1197864"/>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59" y="3383279"/>
            <a:ext cx="4937760" cy="329184"/>
          </a:xfrm>
          <a:prstGeom prst="rect">
            <a:avLst/>
          </a:prstGeom>
          <a:noFill/>
        </p:spPr>
        <p:txBody>
          <a:bodyPr wrap="square" lIns="54864" tIns="54864" rIns="54864" bIns="54864" anchor="t">
            <a:spAutoFit/>
          </a:bodyPr>
          <a:lstStyle/>
          <a:p>
            <a:r>
              <a:rPr sz="1600" b="1">
                <a:solidFill>
                  <a:srgbClr val="17234F"/>
                </a:solidFill>
                <a:latin typeface="Aptos"/>
              </a:rPr>
              <a:t>Improvement: data quality</a:t>
            </a:r>
          </a:p>
        </p:txBody>
      </p:sp>
      <p:sp>
        <p:nvSpPr>
          <p:cNvPr id="17" name="TextBox 16"/>
          <p:cNvSpPr txBox="1"/>
          <p:nvPr/>
        </p:nvSpPr>
        <p:spPr>
          <a:xfrm>
            <a:off x="822959" y="3767328"/>
            <a:ext cx="4937760" cy="795528"/>
          </a:xfrm>
          <a:prstGeom prst="rect">
            <a:avLst/>
          </a:prstGeom>
          <a:noFill/>
        </p:spPr>
        <p:txBody>
          <a:bodyPr wrap="square" lIns="54864" tIns="54864" rIns="54864" bIns="54864" anchor="t">
            <a:spAutoFit/>
          </a:bodyPr>
          <a:lstStyle/>
          <a:p>
            <a:r>
              <a:rPr sz="1400" b="0">
                <a:solidFill>
                  <a:srgbClr val="232A3A"/>
                </a:solidFill>
                <a:latin typeface="Aptos"/>
              </a:rPr>
              <a:t>Use diverse, correctly labelled examples; prevent duplicates and data leakage.</a:t>
            </a:r>
          </a:p>
        </p:txBody>
      </p:sp>
      <p:sp>
        <p:nvSpPr>
          <p:cNvPr id="18" name="Rounded Rectangle 17"/>
          <p:cNvSpPr/>
          <p:nvPr/>
        </p:nvSpPr>
        <p:spPr>
          <a:xfrm>
            <a:off x="6217920" y="3246120"/>
            <a:ext cx="5257800" cy="141732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3355848"/>
            <a:ext cx="64008" cy="1197864"/>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3383279"/>
            <a:ext cx="4937760" cy="329184"/>
          </a:xfrm>
          <a:prstGeom prst="rect">
            <a:avLst/>
          </a:prstGeom>
          <a:noFill/>
        </p:spPr>
        <p:txBody>
          <a:bodyPr wrap="square" lIns="54864" tIns="54864" rIns="54864" bIns="54864" anchor="t">
            <a:spAutoFit/>
          </a:bodyPr>
          <a:lstStyle/>
          <a:p>
            <a:r>
              <a:rPr sz="1600" b="1">
                <a:solidFill>
                  <a:srgbClr val="17234F"/>
                </a:solidFill>
                <a:latin typeface="Aptos"/>
              </a:rPr>
              <a:t>Improvement: evaluation</a:t>
            </a:r>
          </a:p>
        </p:txBody>
      </p:sp>
      <p:sp>
        <p:nvSpPr>
          <p:cNvPr id="21" name="TextBox 20"/>
          <p:cNvSpPr txBox="1"/>
          <p:nvPr/>
        </p:nvSpPr>
        <p:spPr>
          <a:xfrm>
            <a:off x="6400800" y="3767328"/>
            <a:ext cx="4937760" cy="795528"/>
          </a:xfrm>
          <a:prstGeom prst="rect">
            <a:avLst/>
          </a:prstGeom>
          <a:noFill/>
        </p:spPr>
        <p:txBody>
          <a:bodyPr wrap="square" lIns="54864" tIns="54864" rIns="54864" bIns="54864" anchor="t">
            <a:spAutoFit/>
          </a:bodyPr>
          <a:lstStyle/>
          <a:p>
            <a:r>
              <a:rPr sz="1400" b="0">
                <a:solidFill>
                  <a:srgbClr val="232A3A"/>
                </a:solidFill>
                <a:latin typeface="Aptos"/>
              </a:rPr>
              <a:t>Test on independent sources; tune thresholds on validation data; inspect errors.</a:t>
            </a:r>
          </a:p>
        </p:txBody>
      </p:sp>
      <p:sp>
        <p:nvSpPr>
          <p:cNvPr id="22" name="TextBox 21"/>
          <p:cNvSpPr txBox="1"/>
          <p:nvPr/>
        </p:nvSpPr>
        <p:spPr>
          <a:xfrm>
            <a:off x="914400" y="5349240"/>
            <a:ext cx="10332720" cy="411480"/>
          </a:xfrm>
          <a:prstGeom prst="rect">
            <a:avLst/>
          </a:prstGeom>
          <a:noFill/>
        </p:spPr>
        <p:txBody>
          <a:bodyPr wrap="square" lIns="54864" tIns="54864" rIns="54864" bIns="54864" anchor="t">
            <a:spAutoFit/>
          </a:bodyPr>
          <a:lstStyle/>
          <a:p>
            <a:pPr algn="ctr"/>
            <a:r>
              <a:rPr sz="1300" b="1">
                <a:solidFill>
                  <a:srgbClr val="17234F"/>
                </a:solidFill>
                <a:latin typeface="Aptos"/>
              </a:rPr>
              <a:t>Augmentation can improve robustness, but should not create unrealistic artifacts or replace independent testing.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Streamlit application and demo</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A simple interface makes the model testable without running training code.</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14</a:t>
            </a:r>
          </a:p>
        </p:txBody>
      </p:sp>
      <p:sp>
        <p:nvSpPr>
          <p:cNvPr id="6" name="Rounded Rectangle 5"/>
          <p:cNvSpPr/>
          <p:nvPr/>
        </p:nvSpPr>
        <p:spPr>
          <a:xfrm>
            <a:off x="685800" y="1417320"/>
            <a:ext cx="6492240" cy="4251960"/>
          </a:xfrm>
          <a:prstGeom prst="roundRect">
            <a:avLst/>
          </a:prstGeom>
          <a:solidFill>
            <a:srgbClr val="FFFFFF"/>
          </a:solidFill>
          <a:ln>
            <a:solidFill>
              <a:srgbClr val="D2DA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6492240" cy="384048"/>
          </a:xfrm>
          <a:prstGeom prst="rect">
            <a:avLst/>
          </a:prstGeom>
          <a:solidFill>
            <a:srgbClr val="E6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68680" y="1536192"/>
            <a:ext cx="91440" cy="91440"/>
          </a:xfrm>
          <a:prstGeom prst="ellipse">
            <a:avLst/>
          </a:prstGeom>
          <a:solidFill>
            <a:srgbClr val="D64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69848" y="1536192"/>
            <a:ext cx="91440" cy="91440"/>
          </a:xfrm>
          <a:prstGeom prst="ellipse">
            <a:avLst/>
          </a:prstGeom>
          <a:solidFill>
            <a:srgbClr val="F0A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271016" y="1536192"/>
            <a:ext cx="91440" cy="91440"/>
          </a:xfrm>
          <a:prstGeom prst="ellipse">
            <a:avLst/>
          </a:prstGeom>
          <a:solidFill>
            <a:srgbClr val="23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2011680"/>
            <a:ext cx="5577840" cy="411480"/>
          </a:xfrm>
          <a:prstGeom prst="rect">
            <a:avLst/>
          </a:prstGeom>
          <a:noFill/>
        </p:spPr>
        <p:txBody>
          <a:bodyPr wrap="square" lIns="54864" tIns="54864" rIns="54864" bIns="54864" anchor="t">
            <a:spAutoFit/>
          </a:bodyPr>
          <a:lstStyle/>
          <a:p>
            <a:r>
              <a:rPr sz="2100" b="1">
                <a:solidFill>
                  <a:srgbClr val="17234F"/>
                </a:solidFill>
                <a:latin typeface="Aptos"/>
              </a:rPr>
              <a:t>Deepfake Detection</a:t>
            </a:r>
          </a:p>
        </p:txBody>
      </p:sp>
      <p:sp>
        <p:nvSpPr>
          <p:cNvPr id="12" name="TextBox 11"/>
          <p:cNvSpPr txBox="1"/>
          <p:nvPr/>
        </p:nvSpPr>
        <p:spPr>
          <a:xfrm>
            <a:off x="1051560" y="2560320"/>
            <a:ext cx="5577840" cy="320040"/>
          </a:xfrm>
          <a:prstGeom prst="rect">
            <a:avLst/>
          </a:prstGeom>
          <a:noFill/>
        </p:spPr>
        <p:txBody>
          <a:bodyPr wrap="square" lIns="54864" tIns="54864" rIns="54864" bIns="54864" anchor="t">
            <a:spAutoFit/>
          </a:bodyPr>
          <a:lstStyle/>
          <a:p>
            <a:r>
              <a:rPr sz="1300" b="0">
                <a:solidFill>
                  <a:srgbClr val="5D687D"/>
                </a:solidFill>
                <a:latin typeface="Aptos"/>
              </a:rPr>
              <a:t>Upload an image to classify it</a:t>
            </a:r>
          </a:p>
        </p:txBody>
      </p:sp>
      <p:sp>
        <p:nvSpPr>
          <p:cNvPr id="13" name="Rounded Rectangle 12"/>
          <p:cNvSpPr/>
          <p:nvPr/>
        </p:nvSpPr>
        <p:spPr>
          <a:xfrm>
            <a:off x="1097280" y="3063240"/>
            <a:ext cx="5577840" cy="914400"/>
          </a:xfrm>
          <a:prstGeom prst="roundRect">
            <a:avLst/>
          </a:prstGeom>
          <a:solidFill>
            <a:srgbClr val="F9FAFE"/>
          </a:solidFill>
          <a:ln>
            <a:solidFill>
              <a:srgbClr val="356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25880" y="3337560"/>
            <a:ext cx="5120640" cy="320040"/>
          </a:xfrm>
          <a:prstGeom prst="rect">
            <a:avLst/>
          </a:prstGeom>
          <a:noFill/>
        </p:spPr>
        <p:txBody>
          <a:bodyPr wrap="square" lIns="54864" tIns="54864" rIns="54864" bIns="54864" anchor="t">
            <a:spAutoFit/>
          </a:bodyPr>
          <a:lstStyle/>
          <a:p>
            <a:pPr algn="ctr"/>
            <a:r>
              <a:rPr sz="1400" b="1">
                <a:solidFill>
                  <a:srgbClr val="3563E9"/>
                </a:solidFill>
                <a:latin typeface="Aptos"/>
              </a:rPr>
              <a:t>Choose image file  •  JPG / PNG</a:t>
            </a:r>
          </a:p>
        </p:txBody>
      </p:sp>
      <p:sp>
        <p:nvSpPr>
          <p:cNvPr id="15" name="Rounded Rectangle 14"/>
          <p:cNvSpPr/>
          <p:nvPr/>
        </p:nvSpPr>
        <p:spPr>
          <a:xfrm>
            <a:off x="1828800" y="4343400"/>
            <a:ext cx="1920240" cy="502920"/>
          </a:xfrm>
          <a:prstGeom prst="round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PREDICT</a:t>
            </a:r>
          </a:p>
        </p:txBody>
      </p:sp>
      <p:sp>
        <p:nvSpPr>
          <p:cNvPr id="16" name="Rounded Rectangle 15"/>
          <p:cNvSpPr/>
          <p:nvPr/>
        </p:nvSpPr>
        <p:spPr>
          <a:xfrm>
            <a:off x="4114800" y="4343400"/>
            <a:ext cx="1920240" cy="502920"/>
          </a:xfrm>
          <a:prstGeom prst="round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REAL / FAKE</a:t>
            </a:r>
          </a:p>
        </p:txBody>
      </p:sp>
      <p:sp>
        <p:nvSpPr>
          <p:cNvPr id="17" name="TextBox 16"/>
          <p:cNvSpPr txBox="1"/>
          <p:nvPr/>
        </p:nvSpPr>
        <p:spPr>
          <a:xfrm>
            <a:off x="1005840" y="5166360"/>
            <a:ext cx="5852160" cy="228600"/>
          </a:xfrm>
          <a:prstGeom prst="rect">
            <a:avLst/>
          </a:prstGeom>
          <a:noFill/>
        </p:spPr>
        <p:txBody>
          <a:bodyPr wrap="square" lIns="54864" tIns="54864" rIns="54864" bIns="54864" anchor="t">
            <a:spAutoFit/>
          </a:bodyPr>
          <a:lstStyle/>
          <a:p>
            <a:pPr algn="ctr"/>
            <a:r>
              <a:rPr sz="900" b="0">
                <a:solidFill>
                  <a:srgbClr val="5D687D"/>
                </a:solidFill>
                <a:latin typeface="Aptos"/>
              </a:rPr>
              <a:t>Illustrative mockup — replace with a screenshot of the actual app.</a:t>
            </a:r>
          </a:p>
        </p:txBody>
      </p:sp>
      <p:sp>
        <p:nvSpPr>
          <p:cNvPr id="18" name="Rounded Rectangle 17"/>
          <p:cNvSpPr/>
          <p:nvPr/>
        </p:nvSpPr>
        <p:spPr>
          <a:xfrm>
            <a:off x="7635240" y="1645920"/>
            <a:ext cx="3749039" cy="105156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635240" y="1755648"/>
            <a:ext cx="64008" cy="832103"/>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18119" y="1783080"/>
            <a:ext cx="3428999" cy="329184"/>
          </a:xfrm>
          <a:prstGeom prst="rect">
            <a:avLst/>
          </a:prstGeom>
          <a:noFill/>
        </p:spPr>
        <p:txBody>
          <a:bodyPr wrap="square" lIns="54864" tIns="54864" rIns="54864" bIns="54864" anchor="t">
            <a:spAutoFit/>
          </a:bodyPr>
          <a:lstStyle/>
          <a:p>
            <a:r>
              <a:rPr sz="1600" b="1">
                <a:solidFill>
                  <a:srgbClr val="17234F"/>
                </a:solidFill>
                <a:latin typeface="Aptos"/>
              </a:rPr>
              <a:t>1. Upload</a:t>
            </a:r>
          </a:p>
        </p:txBody>
      </p:sp>
      <p:sp>
        <p:nvSpPr>
          <p:cNvPr id="21" name="TextBox 20"/>
          <p:cNvSpPr txBox="1"/>
          <p:nvPr/>
        </p:nvSpPr>
        <p:spPr>
          <a:xfrm>
            <a:off x="7818119" y="2167128"/>
            <a:ext cx="3428999" cy="429767"/>
          </a:xfrm>
          <a:prstGeom prst="rect">
            <a:avLst/>
          </a:prstGeom>
          <a:noFill/>
        </p:spPr>
        <p:txBody>
          <a:bodyPr wrap="square" lIns="54864" tIns="54864" rIns="54864" bIns="54864" anchor="t">
            <a:spAutoFit/>
          </a:bodyPr>
          <a:lstStyle/>
          <a:p>
            <a:r>
              <a:rPr sz="1300" b="0">
                <a:solidFill>
                  <a:srgbClr val="232A3A"/>
                </a:solidFill>
                <a:latin typeface="Aptos"/>
              </a:rPr>
              <a:t>Select an image from your device.</a:t>
            </a:r>
          </a:p>
        </p:txBody>
      </p:sp>
      <p:sp>
        <p:nvSpPr>
          <p:cNvPr id="22" name="Rounded Rectangle 21"/>
          <p:cNvSpPr/>
          <p:nvPr/>
        </p:nvSpPr>
        <p:spPr>
          <a:xfrm>
            <a:off x="7635240" y="2926080"/>
            <a:ext cx="3749039" cy="105156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635240" y="3035808"/>
            <a:ext cx="64008" cy="832103"/>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18119" y="3063240"/>
            <a:ext cx="3428999" cy="329184"/>
          </a:xfrm>
          <a:prstGeom prst="rect">
            <a:avLst/>
          </a:prstGeom>
          <a:noFill/>
        </p:spPr>
        <p:txBody>
          <a:bodyPr wrap="square" lIns="54864" tIns="54864" rIns="54864" bIns="54864" anchor="t">
            <a:spAutoFit/>
          </a:bodyPr>
          <a:lstStyle/>
          <a:p>
            <a:r>
              <a:rPr sz="1600" b="1">
                <a:solidFill>
                  <a:srgbClr val="17234F"/>
                </a:solidFill>
                <a:latin typeface="Aptos"/>
              </a:rPr>
              <a:t>2. Preprocess</a:t>
            </a:r>
          </a:p>
        </p:txBody>
      </p:sp>
      <p:sp>
        <p:nvSpPr>
          <p:cNvPr id="25" name="TextBox 24"/>
          <p:cNvSpPr txBox="1"/>
          <p:nvPr/>
        </p:nvSpPr>
        <p:spPr>
          <a:xfrm>
            <a:off x="7818119" y="3447288"/>
            <a:ext cx="3428999" cy="429767"/>
          </a:xfrm>
          <a:prstGeom prst="rect">
            <a:avLst/>
          </a:prstGeom>
          <a:noFill/>
        </p:spPr>
        <p:txBody>
          <a:bodyPr wrap="square" lIns="54864" tIns="54864" rIns="54864" bIns="54864" anchor="t">
            <a:spAutoFit/>
          </a:bodyPr>
          <a:lstStyle/>
          <a:p>
            <a:r>
              <a:rPr sz="1300" b="0">
                <a:solidFill>
                  <a:srgbClr val="232A3A"/>
                </a:solidFill>
                <a:latin typeface="Aptos"/>
              </a:rPr>
              <a:t>Prepare it in the format expected by the model.</a:t>
            </a:r>
          </a:p>
        </p:txBody>
      </p:sp>
      <p:sp>
        <p:nvSpPr>
          <p:cNvPr id="26" name="Rounded Rectangle 25"/>
          <p:cNvSpPr/>
          <p:nvPr/>
        </p:nvSpPr>
        <p:spPr>
          <a:xfrm>
            <a:off x="7635240" y="4206240"/>
            <a:ext cx="3749039" cy="105156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635240" y="4315968"/>
            <a:ext cx="64008" cy="832103"/>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18119" y="4343400"/>
            <a:ext cx="3428999" cy="329184"/>
          </a:xfrm>
          <a:prstGeom prst="rect">
            <a:avLst/>
          </a:prstGeom>
          <a:noFill/>
        </p:spPr>
        <p:txBody>
          <a:bodyPr wrap="square" lIns="54864" tIns="54864" rIns="54864" bIns="54864" anchor="t">
            <a:spAutoFit/>
          </a:bodyPr>
          <a:lstStyle/>
          <a:p>
            <a:r>
              <a:rPr sz="1600" b="1">
                <a:solidFill>
                  <a:srgbClr val="17234F"/>
                </a:solidFill>
                <a:latin typeface="Aptos"/>
              </a:rPr>
              <a:t>3. Interpret</a:t>
            </a:r>
          </a:p>
        </p:txBody>
      </p:sp>
      <p:sp>
        <p:nvSpPr>
          <p:cNvPr id="29" name="TextBox 28"/>
          <p:cNvSpPr txBox="1"/>
          <p:nvPr/>
        </p:nvSpPr>
        <p:spPr>
          <a:xfrm>
            <a:off x="7818119" y="4727448"/>
            <a:ext cx="3428999" cy="429767"/>
          </a:xfrm>
          <a:prstGeom prst="rect">
            <a:avLst/>
          </a:prstGeom>
          <a:noFill/>
        </p:spPr>
        <p:txBody>
          <a:bodyPr wrap="square" lIns="54864" tIns="54864" rIns="54864" bIns="54864" anchor="t">
            <a:spAutoFit/>
          </a:bodyPr>
          <a:lstStyle/>
          <a:p>
            <a:r>
              <a:rPr sz="1300" b="0">
                <a:solidFill>
                  <a:srgbClr val="232A3A"/>
                </a:solidFill>
                <a:latin typeface="Aptos"/>
              </a:rPr>
              <a:t>Display the predicted class and score, if supported.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D"/>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02920"/>
          </a:xfrm>
          <a:prstGeom prst="rect">
            <a:avLst/>
          </a:prstGeom>
          <a:noFill/>
        </p:spPr>
        <p:txBody>
          <a:bodyPr wrap="square" lIns="54864" tIns="54864" rIns="54864" bIns="54864" anchor="t">
            <a:spAutoFit/>
          </a:bodyPr>
          <a:lstStyle/>
          <a:p>
            <a:r>
              <a:rPr sz="2800" b="1">
                <a:solidFill>
                  <a:srgbClr val="17234F"/>
                </a:solidFill>
                <a:latin typeface="Aptos"/>
              </a:rPr>
              <a:t>Future scope</a:t>
            </a:r>
          </a:p>
        </p:txBody>
      </p:sp>
      <p:sp>
        <p:nvSpPr>
          <p:cNvPr id="3" name="Rectangle 2"/>
          <p:cNvSpPr/>
          <p:nvPr/>
        </p:nvSpPr>
        <p:spPr>
          <a:xfrm>
            <a:off x="530352" y="841248"/>
            <a:ext cx="1024128" cy="50292"/>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932688"/>
            <a:ext cx="10972800" cy="347472"/>
          </a:xfrm>
          <a:prstGeom prst="rect">
            <a:avLst/>
          </a:prstGeom>
          <a:noFill/>
        </p:spPr>
        <p:txBody>
          <a:bodyPr wrap="square" lIns="54864" tIns="54864" rIns="54864" bIns="54864" anchor="t">
            <a:spAutoFit/>
          </a:bodyPr>
          <a:lstStyle/>
          <a:p>
            <a:r>
              <a:rPr sz="1200" b="0">
                <a:solidFill>
                  <a:srgbClr val="5D687D"/>
                </a:solidFill>
                <a:latin typeface="Aptos"/>
              </a:rPr>
              <a:t>Potential extensions beyond the current image classifier.</a:t>
            </a:r>
          </a:p>
        </p:txBody>
      </p:sp>
      <p:sp>
        <p:nvSpPr>
          <p:cNvPr id="5" name="TextBox 4"/>
          <p:cNvSpPr txBox="1"/>
          <p:nvPr/>
        </p:nvSpPr>
        <p:spPr>
          <a:xfrm>
            <a:off x="11201400" y="6510528"/>
            <a:ext cx="502920" cy="182880"/>
          </a:xfrm>
          <a:prstGeom prst="rect">
            <a:avLst/>
          </a:prstGeom>
          <a:noFill/>
        </p:spPr>
        <p:txBody>
          <a:bodyPr wrap="square" lIns="54864" tIns="54864" rIns="54864" bIns="54864" anchor="t">
            <a:spAutoFit/>
          </a:bodyPr>
          <a:lstStyle/>
          <a:p>
            <a:pPr algn="r"/>
            <a:r>
              <a:rPr sz="900" b="0">
                <a:solidFill>
                  <a:srgbClr val="5D687D"/>
                </a:solidFill>
                <a:latin typeface="Aptos"/>
              </a:rPr>
              <a:t>15</a:t>
            </a:r>
          </a:p>
        </p:txBody>
      </p:sp>
      <p:sp>
        <p:nvSpPr>
          <p:cNvPr id="6" name="Rounded Rectangle 5"/>
          <p:cNvSpPr/>
          <p:nvPr/>
        </p:nvSpPr>
        <p:spPr>
          <a:xfrm>
            <a:off x="731520" y="1554480"/>
            <a:ext cx="5212080" cy="132588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64207"/>
            <a:ext cx="64008" cy="1106424"/>
          </a:xfrm>
          <a:prstGeom prst="rect">
            <a:avLst/>
          </a:prstGeom>
          <a:solidFill>
            <a:srgbClr val="356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91639"/>
            <a:ext cx="4892040" cy="329184"/>
          </a:xfrm>
          <a:prstGeom prst="rect">
            <a:avLst/>
          </a:prstGeom>
          <a:noFill/>
        </p:spPr>
        <p:txBody>
          <a:bodyPr wrap="square" lIns="54864" tIns="54864" rIns="54864" bIns="54864" anchor="t">
            <a:spAutoFit/>
          </a:bodyPr>
          <a:lstStyle/>
          <a:p>
            <a:r>
              <a:rPr sz="1600" b="1">
                <a:solidFill>
                  <a:srgbClr val="17234F"/>
                </a:solidFill>
                <a:latin typeface="Aptos"/>
              </a:rPr>
              <a:t>Video analysis</a:t>
            </a:r>
          </a:p>
        </p:txBody>
      </p:sp>
      <p:sp>
        <p:nvSpPr>
          <p:cNvPr id="9" name="TextBox 8"/>
          <p:cNvSpPr txBox="1"/>
          <p:nvPr/>
        </p:nvSpPr>
        <p:spPr>
          <a:xfrm>
            <a:off x="914400" y="2075688"/>
            <a:ext cx="4892040" cy="704087"/>
          </a:xfrm>
          <a:prstGeom prst="rect">
            <a:avLst/>
          </a:prstGeom>
          <a:noFill/>
        </p:spPr>
        <p:txBody>
          <a:bodyPr wrap="square" lIns="54864" tIns="54864" rIns="54864" bIns="54864" anchor="t">
            <a:spAutoFit/>
          </a:bodyPr>
          <a:lstStyle/>
          <a:p>
            <a:r>
              <a:rPr sz="1500" b="0">
                <a:solidFill>
                  <a:srgbClr val="232A3A"/>
                </a:solidFill>
                <a:latin typeface="Aptos"/>
              </a:rPr>
              <a:t>Sample frames and study temporal inconsistencies.</a:t>
            </a:r>
          </a:p>
        </p:txBody>
      </p:sp>
      <p:sp>
        <p:nvSpPr>
          <p:cNvPr id="10" name="Rounded Rectangle 9"/>
          <p:cNvSpPr/>
          <p:nvPr/>
        </p:nvSpPr>
        <p:spPr>
          <a:xfrm>
            <a:off x="6355080" y="1554480"/>
            <a:ext cx="5212080" cy="132588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55080" y="1664207"/>
            <a:ext cx="64008" cy="1106424"/>
          </a:xfrm>
          <a:prstGeom prst="rect">
            <a:avLst/>
          </a:prstGeom>
          <a:solidFill>
            <a:srgbClr val="794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1691639"/>
            <a:ext cx="4892040" cy="329184"/>
          </a:xfrm>
          <a:prstGeom prst="rect">
            <a:avLst/>
          </a:prstGeom>
          <a:noFill/>
        </p:spPr>
        <p:txBody>
          <a:bodyPr wrap="square" lIns="54864" tIns="54864" rIns="54864" bIns="54864" anchor="t">
            <a:spAutoFit/>
          </a:bodyPr>
          <a:lstStyle/>
          <a:p>
            <a:r>
              <a:rPr sz="1600" b="1">
                <a:solidFill>
                  <a:srgbClr val="17234F"/>
                </a:solidFill>
                <a:latin typeface="Aptos"/>
              </a:rPr>
              <a:t>Robustness testing</a:t>
            </a:r>
          </a:p>
        </p:txBody>
      </p:sp>
      <p:sp>
        <p:nvSpPr>
          <p:cNvPr id="13" name="TextBox 12"/>
          <p:cNvSpPr txBox="1"/>
          <p:nvPr/>
        </p:nvSpPr>
        <p:spPr>
          <a:xfrm>
            <a:off x="6537960" y="2075688"/>
            <a:ext cx="4892040" cy="704087"/>
          </a:xfrm>
          <a:prstGeom prst="rect">
            <a:avLst/>
          </a:prstGeom>
          <a:noFill/>
        </p:spPr>
        <p:txBody>
          <a:bodyPr wrap="square" lIns="54864" tIns="54864" rIns="54864" bIns="54864" anchor="t">
            <a:spAutoFit/>
          </a:bodyPr>
          <a:lstStyle/>
          <a:p>
            <a:r>
              <a:rPr sz="1500" b="0">
                <a:solidFill>
                  <a:srgbClr val="232A3A"/>
                </a:solidFill>
                <a:latin typeface="Aptos"/>
              </a:rPr>
              <a:t>Evaluate on unseen datasets and new generation methods.</a:t>
            </a:r>
          </a:p>
        </p:txBody>
      </p:sp>
      <p:sp>
        <p:nvSpPr>
          <p:cNvPr id="14" name="Rounded Rectangle 13"/>
          <p:cNvSpPr/>
          <p:nvPr/>
        </p:nvSpPr>
        <p:spPr>
          <a:xfrm>
            <a:off x="731520" y="3291839"/>
            <a:ext cx="5212080" cy="132588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3401568"/>
            <a:ext cx="64008" cy="110642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428999"/>
            <a:ext cx="4892040" cy="329184"/>
          </a:xfrm>
          <a:prstGeom prst="rect">
            <a:avLst/>
          </a:prstGeom>
          <a:noFill/>
        </p:spPr>
        <p:txBody>
          <a:bodyPr wrap="square" lIns="54864" tIns="54864" rIns="54864" bIns="54864" anchor="t">
            <a:spAutoFit/>
          </a:bodyPr>
          <a:lstStyle/>
          <a:p>
            <a:r>
              <a:rPr sz="1600" b="1">
                <a:solidFill>
                  <a:srgbClr val="17234F"/>
                </a:solidFill>
                <a:latin typeface="Aptos"/>
              </a:rPr>
              <a:t>Forensic signals</a:t>
            </a:r>
          </a:p>
        </p:txBody>
      </p:sp>
      <p:sp>
        <p:nvSpPr>
          <p:cNvPr id="17" name="TextBox 16"/>
          <p:cNvSpPr txBox="1"/>
          <p:nvPr/>
        </p:nvSpPr>
        <p:spPr>
          <a:xfrm>
            <a:off x="914400" y="3813048"/>
            <a:ext cx="4892040" cy="704087"/>
          </a:xfrm>
          <a:prstGeom prst="rect">
            <a:avLst/>
          </a:prstGeom>
          <a:noFill/>
        </p:spPr>
        <p:txBody>
          <a:bodyPr wrap="square" lIns="54864" tIns="54864" rIns="54864" bIns="54864" anchor="t">
            <a:spAutoFit/>
          </a:bodyPr>
          <a:lstStyle/>
          <a:p>
            <a:r>
              <a:rPr sz="1500" b="0">
                <a:solidFill>
                  <a:srgbClr val="232A3A"/>
                </a:solidFill>
                <a:latin typeface="Aptos"/>
              </a:rPr>
              <a:t>Combine visual model output with metadata and provenance checks.</a:t>
            </a:r>
          </a:p>
        </p:txBody>
      </p:sp>
      <p:sp>
        <p:nvSpPr>
          <p:cNvPr id="18" name="Rounded Rectangle 17"/>
          <p:cNvSpPr/>
          <p:nvPr/>
        </p:nvSpPr>
        <p:spPr>
          <a:xfrm>
            <a:off x="6355080" y="3291839"/>
            <a:ext cx="5212080" cy="1325880"/>
          </a:xfrm>
          <a:prstGeom prst="roundRect">
            <a:avLst/>
          </a:prstGeom>
          <a:solidFill>
            <a:srgbClr val="FFFFFF"/>
          </a:solidFill>
          <a:ln w="12700">
            <a:solidFill>
              <a:srgbClr val="E0E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55080" y="3401568"/>
            <a:ext cx="64008" cy="1106424"/>
          </a:xfrm>
          <a:prstGeom prst="rect">
            <a:avLst/>
          </a:prstGeom>
          <a:solidFill>
            <a:srgbClr val="239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3428999"/>
            <a:ext cx="4892040" cy="329184"/>
          </a:xfrm>
          <a:prstGeom prst="rect">
            <a:avLst/>
          </a:prstGeom>
          <a:noFill/>
        </p:spPr>
        <p:txBody>
          <a:bodyPr wrap="square" lIns="54864" tIns="54864" rIns="54864" bIns="54864" anchor="t">
            <a:spAutoFit/>
          </a:bodyPr>
          <a:lstStyle/>
          <a:p>
            <a:r>
              <a:rPr sz="1600" b="1">
                <a:solidFill>
                  <a:srgbClr val="17234F"/>
                </a:solidFill>
                <a:latin typeface="Aptos"/>
              </a:rPr>
              <a:t>Deployment</a:t>
            </a:r>
          </a:p>
        </p:txBody>
      </p:sp>
      <p:sp>
        <p:nvSpPr>
          <p:cNvPr id="21" name="TextBox 20"/>
          <p:cNvSpPr txBox="1"/>
          <p:nvPr/>
        </p:nvSpPr>
        <p:spPr>
          <a:xfrm>
            <a:off x="6537960" y="3813048"/>
            <a:ext cx="4892040" cy="704087"/>
          </a:xfrm>
          <a:prstGeom prst="rect">
            <a:avLst/>
          </a:prstGeom>
          <a:noFill/>
        </p:spPr>
        <p:txBody>
          <a:bodyPr wrap="square" lIns="54864" tIns="54864" rIns="54864" bIns="54864" anchor="t">
            <a:spAutoFit/>
          </a:bodyPr>
          <a:lstStyle/>
          <a:p>
            <a:r>
              <a:rPr sz="1500" b="0">
                <a:solidFill>
                  <a:srgbClr val="232A3A"/>
                </a:solidFill>
                <a:latin typeface="Aptos"/>
              </a:rPr>
              <a:t>Package inference for a reliable web or cloud service.</a:t>
            </a:r>
          </a:p>
        </p:txBody>
      </p:sp>
      <p:sp>
        <p:nvSpPr>
          <p:cNvPr id="22" name="TextBox 21"/>
          <p:cNvSpPr txBox="1"/>
          <p:nvPr/>
        </p:nvSpPr>
        <p:spPr>
          <a:xfrm>
            <a:off x="914400" y="5486400"/>
            <a:ext cx="10241280" cy="365760"/>
          </a:xfrm>
          <a:prstGeom prst="rect">
            <a:avLst/>
          </a:prstGeom>
          <a:noFill/>
        </p:spPr>
        <p:txBody>
          <a:bodyPr wrap="square" lIns="54864" tIns="54864" rIns="54864" bIns="54864" anchor="t">
            <a:spAutoFit/>
          </a:bodyPr>
          <a:lstStyle/>
          <a:p>
            <a:pPr algn="ctr"/>
            <a:r>
              <a:rPr sz="1200" b="0">
                <a:solidFill>
                  <a:srgbClr val="5D687D"/>
                </a:solidFill>
                <a:latin typeface="Aptos"/>
              </a:rPr>
              <a:t>These are future possibilities—not features claimed to exist in the current version.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234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10881360" cy="640080"/>
          </a:xfrm>
          <a:prstGeom prst="rect">
            <a:avLst/>
          </a:prstGeom>
          <a:noFill/>
        </p:spPr>
        <p:txBody>
          <a:bodyPr wrap="square" lIns="54864" tIns="54864" rIns="54864" bIns="54864" anchor="t">
            <a:spAutoFit/>
          </a:bodyPr>
          <a:lstStyle/>
          <a:p>
            <a:r>
              <a:rPr sz="3000" b="1">
                <a:solidFill>
                  <a:srgbClr val="FFFFFF"/>
                </a:solidFill>
                <a:latin typeface="Aptos"/>
              </a:rPr>
              <a:t>Conclusion</a:t>
            </a:r>
          </a:p>
        </p:txBody>
      </p:sp>
      <p:sp>
        <p:nvSpPr>
          <p:cNvPr id="3" name="TextBox 2"/>
          <p:cNvSpPr txBox="1"/>
          <p:nvPr/>
        </p:nvSpPr>
        <p:spPr>
          <a:xfrm>
            <a:off x="685800" y="1280160"/>
            <a:ext cx="10515600" cy="1051560"/>
          </a:xfrm>
          <a:prstGeom prst="rect">
            <a:avLst/>
          </a:prstGeom>
          <a:noFill/>
        </p:spPr>
        <p:txBody>
          <a:bodyPr wrap="square" lIns="54864" tIns="54864" rIns="54864" bIns="54864" anchor="t">
            <a:spAutoFit/>
          </a:bodyPr>
          <a:lstStyle/>
          <a:p>
            <a:r>
              <a:rPr sz="2000" b="0">
                <a:solidFill>
                  <a:srgbClr val="D9E2FA"/>
                </a:solidFill>
                <a:latin typeface="Aptos"/>
              </a:rPr>
              <a:t>Our project applies deep learning to classify still images as REAL or FAKE using an EfficientNetB0-based pipeline.</a:t>
            </a:r>
          </a:p>
        </p:txBody>
      </p:sp>
      <p:sp>
        <p:nvSpPr>
          <p:cNvPr id="4" name="TextBox 3"/>
          <p:cNvSpPr txBox="1"/>
          <p:nvPr/>
        </p:nvSpPr>
        <p:spPr>
          <a:xfrm>
            <a:off x="731520" y="2651760"/>
            <a:ext cx="5029200" cy="320040"/>
          </a:xfrm>
          <a:prstGeom prst="rect">
            <a:avLst/>
          </a:prstGeom>
          <a:noFill/>
        </p:spPr>
        <p:txBody>
          <a:bodyPr wrap="square" lIns="54864" tIns="54864" rIns="54864" bIns="54864" anchor="t">
            <a:spAutoFit/>
          </a:bodyPr>
          <a:lstStyle/>
          <a:p>
            <a:r>
              <a:rPr sz="1300" b="1">
                <a:solidFill>
                  <a:srgbClr val="A0BEFF"/>
                </a:solidFill>
                <a:latin typeface="Aptos"/>
              </a:rPr>
              <a:t>KEY TAKEAWAYS</a:t>
            </a:r>
          </a:p>
        </p:txBody>
      </p:sp>
      <p:sp>
        <p:nvSpPr>
          <p:cNvPr id="5" name="TextBox 4"/>
          <p:cNvSpPr txBox="1"/>
          <p:nvPr/>
        </p:nvSpPr>
        <p:spPr>
          <a:xfrm>
            <a:off x="777240" y="3063240"/>
            <a:ext cx="5166360" cy="1554480"/>
          </a:xfrm>
          <a:prstGeom prst="rect">
            <a:avLst/>
          </a:prstGeom>
          <a:noFill/>
        </p:spPr>
        <p:txBody>
          <a:bodyPr wrap="square" lIns="73152" rIns="73152" bIns="27432">
            <a:spAutoFit/>
          </a:bodyPr>
          <a:lstStyle/>
          <a:p>
            <a:pPr>
              <a:spcAft>
                <a:spcPts val="1000"/>
              </a:spcAft>
              <a:defRPr sz="1500">
                <a:solidFill>
                  <a:srgbClr val="FFFFFF"/>
                </a:solidFill>
                <a:latin typeface="Aptos"/>
              </a:defRPr>
            </a:pPr>
            <a:r>
              <a:t>Preprocessing and class labels must be consistent.</a:t>
            </a:r>
          </a:p>
          <a:p>
            <a:pPr>
              <a:spcAft>
                <a:spcPts val="1000"/>
              </a:spcAft>
              <a:defRPr sz="1500">
                <a:solidFill>
                  <a:srgbClr val="FFFFFF"/>
                </a:solidFill>
                <a:latin typeface="Aptos"/>
              </a:defRPr>
            </a:pPr>
            <a:r>
              <a:t>Evaluation should include fake-class recall and error analysis.</a:t>
            </a:r>
          </a:p>
          <a:p>
            <a:pPr>
              <a:spcAft>
                <a:spcPts val="1000"/>
              </a:spcAft>
              <a:defRPr sz="1500">
                <a:solidFill>
                  <a:srgbClr val="FFFFFF"/>
                </a:solidFill>
                <a:latin typeface="Aptos"/>
              </a:defRPr>
            </a:pPr>
            <a:r>
              <a:t>Predictions are not definitive proof of authenticity.</a:t>
            </a:r>
          </a:p>
        </p:txBody>
      </p:sp>
      <p:sp>
        <p:nvSpPr>
          <p:cNvPr id="8" name="TextBox 7"/>
          <p:cNvSpPr txBox="1"/>
          <p:nvPr/>
        </p:nvSpPr>
        <p:spPr>
          <a:xfrm>
            <a:off x="731520" y="5488983"/>
            <a:ext cx="10515600" cy="726353"/>
          </a:xfrm>
          <a:prstGeom prst="rect">
            <a:avLst/>
          </a:prstGeom>
          <a:noFill/>
        </p:spPr>
        <p:txBody>
          <a:bodyPr wrap="square" lIns="54864" tIns="54864" rIns="54864" bIns="54864" anchor="t">
            <a:spAutoFit/>
          </a:bodyPr>
          <a:lstStyle/>
          <a:p>
            <a:pPr algn="ctr"/>
            <a:r>
              <a:rPr sz="4000" b="1" dirty="0">
                <a:solidFill>
                  <a:srgbClr val="FFFFFF"/>
                </a:solidFill>
                <a:latin typeface="Aptos"/>
              </a:rPr>
              <a:t>Thank You  </a:t>
            </a:r>
            <a:r>
              <a:rPr lang="en-IN" sz="4000" b="1" dirty="0">
                <a:solidFill>
                  <a:srgbClr val="FFFFFF"/>
                </a:solidFill>
                <a:latin typeface="Aptos"/>
              </a:rPr>
              <a:t>! </a:t>
            </a:r>
            <a:endParaRPr sz="4000" b="1" dirty="0">
              <a:solidFill>
                <a:srgbClr val="FFFFFF"/>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2085</Words>
  <Application>Microsoft Office PowerPoint</Application>
  <PresentationFormat>Widescreen</PresentationFormat>
  <Paragraphs>234</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Purvi Chopra</cp:lastModifiedBy>
  <cp:revision>2</cp:revision>
  <dcterms:created xsi:type="dcterms:W3CDTF">2013-01-27T09:14:16Z</dcterms:created>
  <dcterms:modified xsi:type="dcterms:W3CDTF">2026-10-14T15:38:24Z</dcterms:modified>
  <cp:category/>
</cp:coreProperties>
</file>